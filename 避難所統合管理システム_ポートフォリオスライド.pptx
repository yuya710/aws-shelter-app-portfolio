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pic>
        <p:nvPicPr>
          <p:cNvPr id="3" name="Image 0" descr="preencoded.png">    </p:cNvPr>
          <p:cNvPicPr>
            <a:picLocks noChangeAspect="1"/>
          </p:cNvPicPr>
          <p:nvPr/>
        </p:nvPicPr>
        <p:blipFill>
          <a:blip r:embed="rId1"/>
          <a:stretch>
            <a:fillRect/>
          </a:stretch>
        </p:blipFill>
        <p:spPr>
          <a:xfrm>
            <a:off x="3977640" y="640080"/>
            <a:ext cx="1188720" cy="1188720"/>
          </a:xfrm>
          <a:prstGeom prst="rect">
            <a:avLst/>
          </a:prstGeom>
        </p:spPr>
      </p:pic>
      <p:sp>
        <p:nvSpPr>
          <p:cNvPr id="4" name="Text 1"/>
          <p:cNvSpPr/>
          <p:nvPr/>
        </p:nvSpPr>
        <p:spPr>
          <a:xfrm>
            <a:off x="457200" y="1691640"/>
            <a:ext cx="8229600" cy="457200"/>
          </a:xfrm>
          <a:prstGeom prst="rect">
            <a:avLst/>
          </a:prstGeom>
          <a:noFill/>
          <a:ln/>
        </p:spPr>
        <p:txBody>
          <a:bodyPr wrap="square" lIns="0" tIns="0" rIns="0" bIns="0" rtlCol="0" anchor="ctr"/>
          <a:lstStyle/>
          <a:p>
            <a:pPr algn="ctr" indent="0" marL="0">
              <a:buNone/>
            </a:pPr>
            <a:r>
              <a:rPr lang="en-US" sz="1800" spc="600" kern="0" dirty="0">
                <a:solidFill>
                  <a:srgbClr val="94A3B8"/>
                </a:solidFill>
                <a:latin typeface="Calibri" pitchFamily="34" charset="0"/>
                <a:ea typeface="Calibri" pitchFamily="34" charset="-122"/>
                <a:cs typeface="Calibri" pitchFamily="34" charset="-120"/>
              </a:rPr>
              <a:t>ShelterLink</a:t>
            </a:r>
            <a:endParaRPr lang="en-US" sz="1800" dirty="0"/>
          </a:p>
        </p:txBody>
      </p:sp>
      <p:sp>
        <p:nvSpPr>
          <p:cNvPr id="5" name="Text 2"/>
          <p:cNvSpPr/>
          <p:nvPr/>
        </p:nvSpPr>
        <p:spPr>
          <a:xfrm>
            <a:off x="457200" y="2057400"/>
            <a:ext cx="822960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避難所運営支援システム</a:t>
            </a:r>
            <a:endParaRPr lang="en-US" sz="4000" dirty="0"/>
          </a:p>
        </p:txBody>
      </p:sp>
      <p:sp>
        <p:nvSpPr>
          <p:cNvPr id="6" name="Text 3"/>
          <p:cNvSpPr/>
          <p:nvPr/>
        </p:nvSpPr>
        <p:spPr>
          <a:xfrm>
            <a:off x="457200" y="2834640"/>
            <a:ext cx="8229600" cy="411480"/>
          </a:xfrm>
          <a:prstGeom prst="rect">
            <a:avLst/>
          </a:prstGeom>
          <a:noFill/>
          <a:ln/>
        </p:spPr>
        <p:txBody>
          <a:bodyPr wrap="square" lIns="0" tIns="0" rIns="0" bIns="0" rtlCol="0" anchor="ctr"/>
          <a:lstStyle/>
          <a:p>
            <a:pPr algn="ctr" indent="0" marL="0">
              <a:buNone/>
            </a:pPr>
            <a:r>
              <a:rPr lang="en-US" sz="1400" dirty="0">
                <a:solidFill>
                  <a:srgbClr val="E2E8F0"/>
                </a:solidFill>
                <a:latin typeface="Calibri" pitchFamily="34" charset="0"/>
                <a:ea typeface="Calibri" pitchFamily="34" charset="-122"/>
                <a:cs typeface="Calibri" pitchFamily="34" charset="-120"/>
              </a:rPr>
              <a:t>南海トラフ巨大地震を想定 ─ 和歌山県 湯浅町・広川町・有田市周辺 ─ AWSサーバーレス構成</a:t>
            </a:r>
            <a:endParaRPr lang="en-US" sz="1400" dirty="0"/>
          </a:p>
        </p:txBody>
      </p:sp>
      <p:sp>
        <p:nvSpPr>
          <p:cNvPr id="7" name="Shape 4"/>
          <p:cNvSpPr/>
          <p:nvPr/>
        </p:nvSpPr>
        <p:spPr>
          <a:xfrm>
            <a:off x="3200400" y="3383280"/>
            <a:ext cx="2743200" cy="0"/>
          </a:xfrm>
          <a:prstGeom prst="line">
            <a:avLst/>
          </a:prstGeom>
          <a:noFill/>
          <a:ln w="25400">
            <a:solidFill>
              <a:srgbClr val="D97706"/>
            </a:solidFill>
            <a:prstDash val="solid"/>
          </a:ln>
        </p:spPr>
      </p:sp>
      <p:sp>
        <p:nvSpPr>
          <p:cNvPr id="8" name="Text 5"/>
          <p:cNvSpPr/>
          <p:nvPr/>
        </p:nvSpPr>
        <p:spPr>
          <a:xfrm>
            <a:off x="457200" y="3611880"/>
            <a:ext cx="8229600" cy="914400"/>
          </a:xfrm>
          <a:prstGeom prst="rect">
            <a:avLst/>
          </a:prstGeom>
          <a:noFill/>
          <a:ln/>
        </p:spPr>
        <p:txBody>
          <a:bodyPr wrap="square" lIns="0" tIns="0" rIns="0" bIns="0" rtlCol="0" anchor="ctr"/>
          <a:lstStyle/>
          <a:p>
            <a:pPr algn="ctr" indent="0" marL="0">
              <a:buNone/>
            </a:pPr>
            <a:r>
              <a:rPr lang="en-US" sz="1400" dirty="0">
                <a:solidFill>
                  <a:srgbClr val="CBD5E1"/>
                </a:solidFill>
                <a:latin typeface="Calibri" pitchFamily="34" charset="0"/>
                <a:ea typeface="Calibri" pitchFamily="34" charset="-122"/>
                <a:cs typeface="Calibri" pitchFamily="34" charset="-120"/>
              </a:rPr>
              <a:t>氏名：（あなたの名前）</a:t>
            </a:r>
            <a:endParaRPr lang="en-US" sz="1400" dirty="0"/>
          </a:p>
          <a:p>
            <a:pPr algn="ctr" indent="0" marL="0">
              <a:buNone/>
            </a:pPr>
            <a:r>
              <a:rPr lang="en-US" sz="1200" dirty="0">
                <a:solidFill>
                  <a:srgbClr val="CBD5E1"/>
                </a:solidFill>
                <a:latin typeface="Calibri" pitchFamily="34" charset="0"/>
                <a:ea typeface="Calibri" pitchFamily="34" charset="-122"/>
                <a:cs typeface="Calibri" pitchFamily="34" charset="-120"/>
              </a:rPr>
              <a:t>京都コンピュータ学院 ネットワーク学科</a:t>
            </a:r>
            <a:endParaRPr lang="en-US" sz="1400" dirty="0"/>
          </a:p>
          <a:p>
            <a:pPr algn="ctr" indent="0" marL="0">
              <a:buNone/>
            </a:pPr>
            <a:r>
              <a:rPr lang="en-US" sz="1200" dirty="0">
                <a:solidFill>
                  <a:srgbClr val="CBD5E1"/>
                </a:solidFill>
                <a:latin typeface="Calibri" pitchFamily="34" charset="0"/>
                <a:ea typeface="Calibri" pitchFamily="34" charset="-122"/>
                <a:cs typeface="Calibri" pitchFamily="34" charset="-120"/>
              </a:rPr>
              <a:t>制作時期：2026年 2〜3月　／　個人制作</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Text 1"/>
          <p:cNvSpPr/>
          <p:nvPr/>
        </p:nvSpPr>
        <p:spPr>
          <a:xfrm>
            <a:off x="640080" y="228600"/>
            <a:ext cx="3657600" cy="27432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BACKGROUND</a:t>
            </a:r>
            <a:endParaRPr lang="en-US" sz="1100" dirty="0"/>
          </a:p>
        </p:txBody>
      </p:sp>
      <p:sp>
        <p:nvSpPr>
          <p:cNvPr id="4" name="Text 2"/>
          <p:cNvSpPr/>
          <p:nvPr/>
        </p:nvSpPr>
        <p:spPr>
          <a:xfrm>
            <a:off x="640080" y="457200"/>
            <a:ext cx="7772400" cy="54864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制作の背景・動機</a:t>
            </a:r>
            <a:endParaRPr lang="en-US" sz="2800" dirty="0"/>
          </a:p>
        </p:txBody>
      </p:sp>
      <p:sp>
        <p:nvSpPr>
          <p:cNvPr id="5" name="Shape 3"/>
          <p:cNvSpPr/>
          <p:nvPr/>
        </p:nvSpPr>
        <p:spPr>
          <a:xfrm>
            <a:off x="640080" y="1188720"/>
            <a:ext cx="5029200" cy="3566160"/>
          </a:xfrm>
          <a:prstGeom prst="rect">
            <a:avLst/>
          </a:prstGeom>
          <a:solidFill>
            <a:srgbClr val="F1F5F9"/>
          </a:solidFill>
          <a:ln/>
          <a:effectLst>
            <a:outerShdw sx="100000" sy="100000" kx="0" ky="0" algn="bl" rotWithShape="0" blurRad="76200" dist="25400" dir="8100000">
              <a:srgbClr val="000000">
                <a:alpha val="12000"/>
              </a:srgbClr>
            </a:outerShdw>
          </a:effectLst>
        </p:spPr>
      </p:sp>
      <p:sp>
        <p:nvSpPr>
          <p:cNvPr id="6" name="Shape 4"/>
          <p:cNvSpPr/>
          <p:nvPr/>
        </p:nvSpPr>
        <p:spPr>
          <a:xfrm>
            <a:off x="640080" y="1188720"/>
            <a:ext cx="54864" cy="3566160"/>
          </a:xfrm>
          <a:prstGeom prst="rect">
            <a:avLst/>
          </a:prstGeom>
          <a:solidFill>
            <a:srgbClr val="D97706"/>
          </a:solidFill>
          <a:ln/>
        </p:spPr>
      </p:sp>
      <p:pic>
        <p:nvPicPr>
          <p:cNvPr id="7" name="Image 0" descr="preencoded.png">    </p:cNvPr>
          <p:cNvPicPr>
            <a:picLocks noChangeAspect="1"/>
          </p:cNvPicPr>
          <p:nvPr/>
        </p:nvPicPr>
        <p:blipFill>
          <a:blip r:embed="rId1"/>
          <a:stretch>
            <a:fillRect/>
          </a:stretch>
        </p:blipFill>
        <p:spPr>
          <a:xfrm>
            <a:off x="960120" y="1417320"/>
            <a:ext cx="365760" cy="365760"/>
          </a:xfrm>
          <a:prstGeom prst="rect">
            <a:avLst/>
          </a:prstGeom>
        </p:spPr>
      </p:pic>
      <p:sp>
        <p:nvSpPr>
          <p:cNvPr id="8" name="Text 5"/>
          <p:cNvSpPr/>
          <p:nvPr/>
        </p:nvSpPr>
        <p:spPr>
          <a:xfrm>
            <a:off x="1417320" y="1417320"/>
            <a:ext cx="182880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きっかけ</a:t>
            </a:r>
            <a:endParaRPr lang="en-US" sz="1500" dirty="0"/>
          </a:p>
        </p:txBody>
      </p:sp>
      <p:sp>
        <p:nvSpPr>
          <p:cNvPr id="9" name="Text 6"/>
          <p:cNvSpPr/>
          <p:nvPr/>
        </p:nvSpPr>
        <p:spPr>
          <a:xfrm>
            <a:off x="960120" y="1828800"/>
            <a:ext cx="4434840" cy="2697480"/>
          </a:xfrm>
          <a:prstGeom prst="rect">
            <a:avLst/>
          </a:prstGeom>
          <a:noFill/>
          <a:ln/>
        </p:spPr>
        <p:txBody>
          <a:bodyPr wrap="square" lIns="0" tIns="0" rIns="0" bIns="0" rtlCol="0" anchor="ctr"/>
          <a:lstStyle/>
          <a:p>
            <a:pPr indent="0" marL="0">
              <a:lnSpc>
                <a:spcPct val="145000"/>
              </a:lnSpc>
              <a:buNone/>
            </a:pPr>
            <a:r>
              <a:rPr lang="en-US" sz="1150" dirty="0">
                <a:solidFill>
                  <a:srgbClr val="1E293B"/>
                </a:solidFill>
                <a:latin typeface="Calibri" pitchFamily="34" charset="0"/>
                <a:ea typeface="Calibri" pitchFamily="34" charset="-122"/>
                <a:cs typeface="Calibri" pitchFamily="34" charset="-120"/>
              </a:rPr>
              <a:t>自主学習として何かを作りたいと考えた際、インターンで触れたAWSの知識を活かせるサービスを構築したいと思った。</a:t>
            </a:r>
            <a:endParaRPr lang="en-US" sz="1150" dirty="0"/>
          </a:p>
          <a:p>
            <a:pPr indent="0" marL="0">
              <a:lnSpc>
                <a:spcPct val="145000"/>
              </a:lnSpc>
              <a:buNone/>
            </a:pPr>
            <a:endParaRPr lang="en-US" sz="1150" dirty="0"/>
          </a:p>
          <a:p>
            <a:pPr indent="0" marL="0">
              <a:lnSpc>
                <a:spcPct val="145000"/>
              </a:lnSpc>
              <a:buNone/>
            </a:pPr>
            <a:r>
              <a:rPr lang="en-US" sz="1150" dirty="0">
                <a:solidFill>
                  <a:srgbClr val="1E293B"/>
                </a:solidFill>
                <a:latin typeface="Calibri" pitchFamily="34" charset="0"/>
                <a:ea typeface="Calibri" pitchFamily="34" charset="-122"/>
                <a:cs typeface="Calibri" pitchFamily="34" charset="-120"/>
              </a:rPr>
              <a:t>テーマを模索する中で、東日本大震災の記録映像のすさまじさと、能登半島地震における支援物資の調達・配備の困難さを思い出した。</a:t>
            </a:r>
            <a:endParaRPr lang="en-US" sz="1150" dirty="0"/>
          </a:p>
          <a:p>
            <a:pPr indent="0" marL="0">
              <a:lnSpc>
                <a:spcPct val="145000"/>
              </a:lnSpc>
              <a:buNone/>
            </a:pPr>
            <a:endParaRPr lang="en-US" sz="1150" dirty="0"/>
          </a:p>
          <a:p>
            <a:pPr indent="0" marL="0">
              <a:lnSpc>
                <a:spcPct val="145000"/>
              </a:lnSpc>
              <a:buNone/>
            </a:pPr>
            <a:r>
              <a:rPr lang="en-US" sz="1150" dirty="0">
                <a:solidFill>
                  <a:srgbClr val="1E293B"/>
                </a:solidFill>
                <a:latin typeface="Calibri" pitchFamily="34" charset="0"/>
                <a:ea typeface="Calibri" pitchFamily="34" charset="-122"/>
                <a:cs typeface="Calibri" pitchFamily="34" charset="-120"/>
              </a:rPr>
              <a:t>クラウドが高度に発展した現在なら、自治体の「迅速な情報共有と正確な避難誘導」をリアルタイムに実現できるのではないか——そこで南海トラフ巨大地震を想定した自治体案件として本システムの制作を開始した。</a:t>
            </a:r>
            <a:endParaRPr lang="en-US" sz="1150" dirty="0"/>
          </a:p>
        </p:txBody>
      </p:sp>
      <p:sp>
        <p:nvSpPr>
          <p:cNvPr id="10" name="Shape 7"/>
          <p:cNvSpPr/>
          <p:nvPr/>
        </p:nvSpPr>
        <p:spPr>
          <a:xfrm>
            <a:off x="5943600" y="1188720"/>
            <a:ext cx="2560320" cy="1554480"/>
          </a:xfrm>
          <a:prstGeom prst="rect">
            <a:avLst/>
          </a:prstGeom>
          <a:solidFill>
            <a:srgbClr val="F1F5F9"/>
          </a:solidFill>
          <a:ln/>
          <a:effectLst>
            <a:outerShdw sx="100000" sy="100000" kx="0" ky="0" algn="bl" rotWithShape="0" blurRad="76200" dist="25400" dir="8100000">
              <a:srgbClr val="000000">
                <a:alpha val="12000"/>
              </a:srgbClr>
            </a:outerShdw>
          </a:effectLst>
        </p:spPr>
      </p:sp>
      <p:sp>
        <p:nvSpPr>
          <p:cNvPr id="11" name="Shape 8"/>
          <p:cNvSpPr/>
          <p:nvPr/>
        </p:nvSpPr>
        <p:spPr>
          <a:xfrm>
            <a:off x="6108192" y="1280160"/>
            <a:ext cx="457200" cy="457200"/>
          </a:xfrm>
          <a:prstGeom prst="ellipse">
            <a:avLst/>
          </a:prstGeom>
          <a:solidFill>
            <a:srgbClr val="1B2A4A"/>
          </a:solidFill>
          <a:ln/>
        </p:spPr>
      </p:sp>
      <p:pic>
        <p:nvPicPr>
          <p:cNvPr id="12" name="Image 1" descr="preencoded.png">    </p:cNvPr>
          <p:cNvPicPr>
            <a:picLocks noChangeAspect="1"/>
          </p:cNvPicPr>
          <p:nvPr/>
        </p:nvPicPr>
        <p:blipFill>
          <a:blip r:embed="rId2"/>
          <a:stretch>
            <a:fillRect/>
          </a:stretch>
        </p:blipFill>
        <p:spPr>
          <a:xfrm>
            <a:off x="6172200" y="1325880"/>
            <a:ext cx="347472" cy="347472"/>
          </a:xfrm>
          <a:prstGeom prst="rect">
            <a:avLst/>
          </a:prstGeom>
        </p:spPr>
      </p:pic>
      <p:sp>
        <p:nvSpPr>
          <p:cNvPr id="13" name="Text 9"/>
          <p:cNvSpPr/>
          <p:nvPr/>
        </p:nvSpPr>
        <p:spPr>
          <a:xfrm>
            <a:off x="6537960" y="1325880"/>
            <a:ext cx="164592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学習目的</a:t>
            </a:r>
            <a:endParaRPr lang="en-US" sz="1300" dirty="0"/>
          </a:p>
        </p:txBody>
      </p:sp>
      <p:sp>
        <p:nvSpPr>
          <p:cNvPr id="14" name="Text 10"/>
          <p:cNvSpPr/>
          <p:nvPr/>
        </p:nvSpPr>
        <p:spPr>
          <a:xfrm>
            <a:off x="6080760" y="1783080"/>
            <a:ext cx="2286000" cy="82296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クラウドサービスの</a:t>
            </a:r>
            <a:endParaRPr lang="en-US" sz="1100" dirty="0"/>
          </a:p>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導入から運用までの手順を</a:t>
            </a:r>
            <a:endParaRPr lang="en-US" sz="1100" dirty="0"/>
          </a:p>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実際に手を動かして学ぶ</a:t>
            </a:r>
            <a:endParaRPr lang="en-US" sz="1100" dirty="0"/>
          </a:p>
        </p:txBody>
      </p:sp>
      <p:sp>
        <p:nvSpPr>
          <p:cNvPr id="15" name="Shape 11"/>
          <p:cNvSpPr/>
          <p:nvPr/>
        </p:nvSpPr>
        <p:spPr>
          <a:xfrm>
            <a:off x="5943600" y="2926080"/>
            <a:ext cx="2560320" cy="1828800"/>
          </a:xfrm>
          <a:prstGeom prst="rect">
            <a:avLst/>
          </a:prstGeom>
          <a:solidFill>
            <a:srgbClr val="F1F5F9"/>
          </a:solidFill>
          <a:ln/>
          <a:effectLst>
            <a:outerShdw sx="100000" sy="100000" kx="0" ky="0" algn="bl" rotWithShape="0" blurRad="76200" dist="25400" dir="81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6172200" y="3063240"/>
            <a:ext cx="320040" cy="320040"/>
          </a:xfrm>
          <a:prstGeom prst="rect">
            <a:avLst/>
          </a:prstGeom>
        </p:spPr>
      </p:pic>
      <p:sp>
        <p:nvSpPr>
          <p:cNvPr id="17" name="Text 12"/>
          <p:cNvSpPr/>
          <p:nvPr/>
        </p:nvSpPr>
        <p:spPr>
          <a:xfrm>
            <a:off x="6537960" y="3063240"/>
            <a:ext cx="164592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参考にした情報</a:t>
            </a:r>
            <a:endParaRPr lang="en-US" sz="1300" dirty="0"/>
          </a:p>
        </p:txBody>
      </p:sp>
      <p:sp>
        <p:nvSpPr>
          <p:cNvPr id="18" name="Text 13"/>
          <p:cNvSpPr/>
          <p:nvPr/>
        </p:nvSpPr>
        <p:spPr>
          <a:xfrm>
            <a:off x="6263640" y="3520440"/>
            <a:ext cx="2011680" cy="109728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AWS公式チュートリアル</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サーバーレス設計パターン集</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能登半島地震 物資調達の</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振り返り分析（内閣府）</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Text 1"/>
          <p:cNvSpPr/>
          <p:nvPr/>
        </p:nvSpPr>
        <p:spPr>
          <a:xfrm>
            <a:off x="640080" y="228600"/>
            <a:ext cx="3657600" cy="27432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OVERVIEW</a:t>
            </a:r>
            <a:endParaRPr lang="en-US" sz="1100" dirty="0"/>
          </a:p>
        </p:txBody>
      </p:sp>
      <p:sp>
        <p:nvSpPr>
          <p:cNvPr id="4" name="Text 2"/>
          <p:cNvSpPr/>
          <p:nvPr/>
        </p:nvSpPr>
        <p:spPr>
          <a:xfrm>
            <a:off x="640080" y="457200"/>
            <a:ext cx="7772400" cy="54864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システム概要</a:t>
            </a:r>
            <a:endParaRPr lang="en-US" sz="2800" dirty="0"/>
          </a:p>
        </p:txBody>
      </p:sp>
      <p:sp>
        <p:nvSpPr>
          <p:cNvPr id="5" name="Text 3"/>
          <p:cNvSpPr/>
          <p:nvPr/>
        </p:nvSpPr>
        <p:spPr>
          <a:xfrm>
            <a:off x="640080" y="1097280"/>
            <a:ext cx="7863840" cy="5029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和歌山県湯浅町・広川町・有田市周辺を想定した災害時避難所管理システム。3つの運用モードで避難所の状況把握・物資管理・補充要請・AIチャットによる情報照会を実現。</a:t>
            </a:r>
            <a:endParaRPr lang="en-US" sz="1200" dirty="0"/>
          </a:p>
        </p:txBody>
      </p:sp>
      <p:sp>
        <p:nvSpPr>
          <p:cNvPr id="6" name="Shape 4"/>
          <p:cNvSpPr/>
          <p:nvPr/>
        </p:nvSpPr>
        <p:spPr>
          <a:xfrm>
            <a:off x="640080" y="1737360"/>
            <a:ext cx="2514600" cy="3017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640080" y="1737360"/>
            <a:ext cx="2514600" cy="457200"/>
          </a:xfrm>
          <a:prstGeom prst="rect">
            <a:avLst/>
          </a:prstGeom>
          <a:solidFill>
            <a:srgbClr val="2563EB"/>
          </a:solidFill>
          <a:ln/>
        </p:spPr>
      </p:sp>
      <p:pic>
        <p:nvPicPr>
          <p:cNvPr id="8" name="Image 0" descr="preencoded.png">    </p:cNvPr>
          <p:cNvPicPr>
            <a:picLocks noChangeAspect="1"/>
          </p:cNvPicPr>
          <p:nvPr/>
        </p:nvPicPr>
        <p:blipFill>
          <a:blip r:embed="rId1"/>
          <a:stretch>
            <a:fillRect/>
          </a:stretch>
        </p:blipFill>
        <p:spPr>
          <a:xfrm>
            <a:off x="822960" y="1801368"/>
            <a:ext cx="320040" cy="320040"/>
          </a:xfrm>
          <a:prstGeom prst="rect">
            <a:avLst/>
          </a:prstGeom>
        </p:spPr>
      </p:pic>
      <p:sp>
        <p:nvSpPr>
          <p:cNvPr id="9" name="Text 6"/>
          <p:cNvSpPr/>
          <p:nvPr/>
        </p:nvSpPr>
        <p:spPr>
          <a:xfrm>
            <a:off x="1188720" y="178308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自治体本部モード</a:t>
            </a:r>
            <a:endParaRPr lang="en-US" sz="1300" dirty="0"/>
          </a:p>
        </p:txBody>
      </p:sp>
      <p:sp>
        <p:nvSpPr>
          <p:cNvPr id="10" name="Text 7"/>
          <p:cNvSpPr/>
          <p:nvPr/>
        </p:nvSpPr>
        <p:spPr>
          <a:xfrm>
            <a:off x="822960" y="2267712"/>
            <a:ext cx="2148840" cy="2194560"/>
          </a:xfrm>
          <a:prstGeom prst="rect">
            <a:avLst/>
          </a:prstGeom>
          <a:noFill/>
          <a:ln/>
        </p:spPr>
        <p:txBody>
          <a:bodyPr wrap="square" lIns="0" tIns="0" rIns="0" bIns="0" rtlCol="0" anchor="ctr"/>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従来：電話で各避難所に個別確認</a:t>
            </a: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 情報集約に数時間</a:t>
            </a:r>
            <a:endParaRPr lang="en-US" sz="1150" dirty="0"/>
          </a:p>
          <a:p>
            <a:pPr indent="0" marL="0">
              <a:lnSpc>
                <a:spcPct val="140000"/>
              </a:lnSpc>
              <a:buNone/>
            </a:pP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本システム：全避難所の状態を</a:t>
            </a: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地図上でリアルタイムに一画面把握。</a:t>
            </a: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AIチャットで自然言語での照会も可能。</a:t>
            </a:r>
            <a:endParaRPr lang="en-US" sz="1150" dirty="0"/>
          </a:p>
        </p:txBody>
      </p:sp>
      <p:sp>
        <p:nvSpPr>
          <p:cNvPr id="11" name="Shape 8"/>
          <p:cNvSpPr/>
          <p:nvPr/>
        </p:nvSpPr>
        <p:spPr>
          <a:xfrm>
            <a:off x="3429000" y="1737360"/>
            <a:ext cx="2514600" cy="3017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3429000" y="1737360"/>
            <a:ext cx="2514600" cy="457200"/>
          </a:xfrm>
          <a:prstGeom prst="rect">
            <a:avLst/>
          </a:prstGeom>
          <a:solidFill>
            <a:srgbClr val="059669"/>
          </a:solidFill>
          <a:ln/>
        </p:spPr>
      </p:sp>
      <p:pic>
        <p:nvPicPr>
          <p:cNvPr id="13" name="Image 1" descr="preencoded.png">    </p:cNvPr>
          <p:cNvPicPr>
            <a:picLocks noChangeAspect="1"/>
          </p:cNvPicPr>
          <p:nvPr/>
        </p:nvPicPr>
        <p:blipFill>
          <a:blip r:embed="rId2"/>
          <a:stretch>
            <a:fillRect/>
          </a:stretch>
        </p:blipFill>
        <p:spPr>
          <a:xfrm>
            <a:off x="3611880" y="1801368"/>
            <a:ext cx="320040" cy="320040"/>
          </a:xfrm>
          <a:prstGeom prst="rect">
            <a:avLst/>
          </a:prstGeom>
        </p:spPr>
      </p:pic>
      <p:sp>
        <p:nvSpPr>
          <p:cNvPr id="14" name="Text 10"/>
          <p:cNvSpPr/>
          <p:nvPr/>
        </p:nvSpPr>
        <p:spPr>
          <a:xfrm>
            <a:off x="3977640" y="178308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現場報告モード</a:t>
            </a:r>
            <a:endParaRPr lang="en-US" sz="1300" dirty="0"/>
          </a:p>
        </p:txBody>
      </p:sp>
      <p:sp>
        <p:nvSpPr>
          <p:cNvPr id="15" name="Text 11"/>
          <p:cNvSpPr/>
          <p:nvPr/>
        </p:nvSpPr>
        <p:spPr>
          <a:xfrm>
            <a:off x="3611880" y="2267712"/>
            <a:ext cx="2148840" cy="2194560"/>
          </a:xfrm>
          <a:prstGeom prst="rect">
            <a:avLst/>
          </a:prstGeom>
          <a:noFill/>
          <a:ln/>
        </p:spPr>
        <p:txBody>
          <a:bodyPr wrap="square" lIns="0" tIns="0" rIns="0" bIns="0" rtlCol="0" anchor="ctr"/>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従来：紙の報告書をFAXで送信</a:t>
            </a: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 本部への伝達に遅延</a:t>
            </a:r>
            <a:endParaRPr lang="en-US" sz="1150" dirty="0"/>
          </a:p>
          <a:p>
            <a:pPr indent="0" marL="0">
              <a:lnSpc>
                <a:spcPct val="140000"/>
              </a:lnSpc>
              <a:buNone/>
            </a:pP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本システム：避難者数・物資在庫を</a:t>
            </a: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現場からスマホで直接入力。</a:t>
            </a: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不足物資の補充要請もワンタップ。</a:t>
            </a:r>
            <a:endParaRPr lang="en-US" sz="1150" dirty="0"/>
          </a:p>
        </p:txBody>
      </p:sp>
      <p:sp>
        <p:nvSpPr>
          <p:cNvPr id="16" name="Shape 12"/>
          <p:cNvSpPr/>
          <p:nvPr/>
        </p:nvSpPr>
        <p:spPr>
          <a:xfrm>
            <a:off x="6217920" y="1737360"/>
            <a:ext cx="2514600" cy="3017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3"/>
          <p:cNvSpPr/>
          <p:nvPr/>
        </p:nvSpPr>
        <p:spPr>
          <a:xfrm>
            <a:off x="6217920" y="1737360"/>
            <a:ext cx="2514600" cy="457200"/>
          </a:xfrm>
          <a:prstGeom prst="rect">
            <a:avLst/>
          </a:prstGeom>
          <a:solidFill>
            <a:srgbClr val="DC2626"/>
          </a:solidFill>
          <a:ln/>
        </p:spPr>
      </p:sp>
      <p:pic>
        <p:nvPicPr>
          <p:cNvPr id="18" name="Image 2" descr="preencoded.png">    </p:cNvPr>
          <p:cNvPicPr>
            <a:picLocks noChangeAspect="1"/>
          </p:cNvPicPr>
          <p:nvPr/>
        </p:nvPicPr>
        <p:blipFill>
          <a:blip r:embed="rId3"/>
          <a:stretch>
            <a:fillRect/>
          </a:stretch>
        </p:blipFill>
        <p:spPr>
          <a:xfrm>
            <a:off x="6400800" y="1801368"/>
            <a:ext cx="320040" cy="320040"/>
          </a:xfrm>
          <a:prstGeom prst="rect">
            <a:avLst/>
          </a:prstGeom>
        </p:spPr>
      </p:pic>
      <p:sp>
        <p:nvSpPr>
          <p:cNvPr id="19" name="Text 14"/>
          <p:cNvSpPr/>
          <p:nvPr/>
        </p:nvSpPr>
        <p:spPr>
          <a:xfrm>
            <a:off x="6766560" y="178308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中央物流モード</a:t>
            </a:r>
            <a:endParaRPr lang="en-US" sz="1300" dirty="0"/>
          </a:p>
        </p:txBody>
      </p:sp>
      <p:sp>
        <p:nvSpPr>
          <p:cNvPr id="20" name="Text 15"/>
          <p:cNvSpPr/>
          <p:nvPr/>
        </p:nvSpPr>
        <p:spPr>
          <a:xfrm>
            <a:off x="6400800" y="2267712"/>
            <a:ext cx="2148840" cy="2194560"/>
          </a:xfrm>
          <a:prstGeom prst="rect">
            <a:avLst/>
          </a:prstGeom>
          <a:noFill/>
          <a:ln/>
        </p:spPr>
        <p:txBody>
          <a:bodyPr wrap="square" lIns="0" tIns="0" rIns="0" bIns="0" rtlCol="0" anchor="ctr"/>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従来：要請を電話で受け、</a:t>
            </a: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手作業で在庫確認・配送手配</a:t>
            </a:r>
            <a:endParaRPr lang="en-US" sz="1150" dirty="0"/>
          </a:p>
          <a:p>
            <a:pPr indent="0" marL="0">
              <a:lnSpc>
                <a:spcPct val="140000"/>
              </a:lnSpc>
              <a:buNone/>
            </a:pP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本システム：承認済み要請を一覧管理。</a:t>
            </a: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倉庫在庫から出荷指示。逼迫度を</a:t>
            </a:r>
            <a:endParaRPr lang="en-US" sz="1150" dirty="0"/>
          </a:p>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広域地図で色分け表示。</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Text 1"/>
          <p:cNvSpPr/>
          <p:nvPr/>
        </p:nvSpPr>
        <p:spPr>
          <a:xfrm>
            <a:off x="640080" y="228600"/>
            <a:ext cx="3657600" cy="27432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ARCHITECTURE</a:t>
            </a:r>
            <a:endParaRPr lang="en-US" sz="1100" dirty="0"/>
          </a:p>
        </p:txBody>
      </p:sp>
      <p:sp>
        <p:nvSpPr>
          <p:cNvPr id="4" name="Text 2"/>
          <p:cNvSpPr/>
          <p:nvPr/>
        </p:nvSpPr>
        <p:spPr>
          <a:xfrm>
            <a:off x="640080" y="457200"/>
            <a:ext cx="7772400" cy="54864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システム構成図</a:t>
            </a:r>
            <a:endParaRPr lang="en-US" sz="2800" dirty="0"/>
          </a:p>
        </p:txBody>
      </p:sp>
      <p:pic>
        <p:nvPicPr>
          <p:cNvPr id="5" name="Image 0" descr="/home/claude/ss_arch.png">    </p:cNvPr>
          <p:cNvPicPr>
            <a:picLocks noChangeAspect="1"/>
          </p:cNvPicPr>
          <p:nvPr/>
        </p:nvPicPr>
        <p:blipFill>
          <a:blip r:embed="rId1"/>
          <a:stretch>
            <a:fillRect/>
          </a:stretch>
        </p:blipFill>
        <p:spPr>
          <a:xfrm>
            <a:off x="1560327" y="1097280"/>
            <a:ext cx="6023346" cy="2926080"/>
          </a:xfrm>
          <a:prstGeom prst="rect">
            <a:avLst/>
          </a:prstGeom>
        </p:spPr>
      </p:pic>
      <p:sp>
        <p:nvSpPr>
          <p:cNvPr id="6" name="Shape 3"/>
          <p:cNvSpPr/>
          <p:nvPr/>
        </p:nvSpPr>
        <p:spPr>
          <a:xfrm>
            <a:off x="640080" y="4023360"/>
            <a:ext cx="7863840" cy="914400"/>
          </a:xfrm>
          <a:prstGeom prst="rect">
            <a:avLst/>
          </a:prstGeom>
          <a:solidFill>
            <a:srgbClr val="1B2A4A"/>
          </a:solidFill>
          <a:ln/>
        </p:spPr>
      </p:sp>
      <p:sp>
        <p:nvSpPr>
          <p:cNvPr id="7" name="Text 4"/>
          <p:cNvSpPr/>
          <p:nvPr/>
        </p:nvSpPr>
        <p:spPr>
          <a:xfrm>
            <a:off x="822960" y="4069080"/>
            <a:ext cx="1828800" cy="274320"/>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構成のポイント</a:t>
            </a:r>
            <a:endParaRPr lang="en-US" sz="1100" dirty="0"/>
          </a:p>
        </p:txBody>
      </p:sp>
      <p:sp>
        <p:nvSpPr>
          <p:cNvPr id="8" name="Text 5"/>
          <p:cNvSpPr/>
          <p:nvPr/>
        </p:nvSpPr>
        <p:spPr>
          <a:xfrm>
            <a:off x="822960" y="4297680"/>
            <a:ext cx="7498080" cy="594360"/>
          </a:xfrm>
          <a:prstGeom prst="rect">
            <a:avLst/>
          </a:prstGeom>
          <a:noFill/>
          <a:ln/>
        </p:spPr>
        <p:txBody>
          <a:bodyPr wrap="square" lIns="0" tIns="0" rIns="0" bIns="0" rtlCol="0" anchor="ctr"/>
          <a:lstStyle/>
          <a:p>
            <a:pPr marL="342900" indent="-342900">
              <a:spcAft>
                <a:spcPts val="200"/>
              </a:spcAft>
              <a:buSzPct val="100000"/>
              <a:buChar char="•"/>
            </a:pPr>
            <a:r>
              <a:rPr lang="en-US" sz="950" dirty="0">
                <a:solidFill>
                  <a:srgbClr val="E2E8F0"/>
                </a:solidFill>
                <a:latin typeface="Calibri" pitchFamily="34" charset="0"/>
                <a:ea typeface="Calibri" pitchFamily="34" charset="-122"/>
                <a:cs typeface="Calibri" pitchFamily="34" charset="-120"/>
              </a:rPr>
              <a:t>単一Lambda関数でrouteKeyにより全APIルートを処理 ─ 運用管理をシンプルに</a:t>
            </a:r>
            <a:endParaRPr lang="en-US" sz="950" dirty="0"/>
          </a:p>
          <a:p>
            <a:pPr marL="342900" indent="-342900">
              <a:spcAft>
                <a:spcPts val="200"/>
              </a:spcAft>
              <a:buSzPct val="100000"/>
              <a:buChar char="•"/>
            </a:pPr>
            <a:r>
              <a:rPr lang="en-US" sz="950" dirty="0">
                <a:solidFill>
                  <a:srgbClr val="E2E8F0"/>
                </a:solidFill>
                <a:latin typeface="Calibri" pitchFamily="34" charset="0"/>
                <a:ea typeface="Calibri" pitchFamily="34" charset="-122"/>
                <a:cs typeface="Calibri" pitchFamily="34" charset="-120"/>
              </a:rPr>
              <a:t>Bedrockはchat専用 ─ DynamoDBの全量データをリアルタイムにプロンプト注入して回答</a:t>
            </a:r>
            <a:endParaRPr lang="en-US" sz="950" dirty="0"/>
          </a:p>
          <a:p>
            <a:pPr marL="342900" indent="-342900">
              <a:spcAft>
                <a:spcPts val="200"/>
              </a:spcAft>
              <a:buSzPct val="100000"/>
              <a:buChar char="•"/>
            </a:pPr>
            <a:r>
              <a:rPr lang="en-US" sz="950" dirty="0">
                <a:solidFill>
                  <a:srgbClr val="E2E8F0"/>
                </a:solidFill>
                <a:latin typeface="Calibri" pitchFamily="34" charset="0"/>
                <a:ea typeface="Calibri" pitchFamily="34" charset="-122"/>
                <a:cs typeface="Calibri" pitchFamily="34" charset="-120"/>
              </a:rPr>
              <a:t>3種のユーザー（本部・現場・物流）が同一APIを共有し、ロールで権限分離</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Text 1"/>
          <p:cNvSpPr/>
          <p:nvPr/>
        </p:nvSpPr>
        <p:spPr>
          <a:xfrm>
            <a:off x="640080" y="228600"/>
            <a:ext cx="3657600" cy="27432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TECHNOLOGY</a:t>
            </a:r>
            <a:endParaRPr lang="en-US" sz="1100" dirty="0"/>
          </a:p>
        </p:txBody>
      </p:sp>
      <p:sp>
        <p:nvSpPr>
          <p:cNvPr id="4" name="Text 2"/>
          <p:cNvSpPr/>
          <p:nvPr/>
        </p:nvSpPr>
        <p:spPr>
          <a:xfrm>
            <a:off x="640080" y="457200"/>
            <a:ext cx="7772400" cy="54864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使用技術</a:t>
            </a:r>
            <a:endParaRPr lang="en-US" sz="2800" dirty="0"/>
          </a:p>
        </p:txBody>
      </p:sp>
      <p:sp>
        <p:nvSpPr>
          <p:cNvPr id="5" name="Shape 3"/>
          <p:cNvSpPr/>
          <p:nvPr/>
        </p:nvSpPr>
        <p:spPr>
          <a:xfrm>
            <a:off x="640080" y="1143000"/>
            <a:ext cx="2514600" cy="3611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640080" y="1143000"/>
            <a:ext cx="2514600" cy="457200"/>
          </a:xfrm>
          <a:prstGeom prst="rect">
            <a:avLst/>
          </a:prstGeom>
          <a:solidFill>
            <a:srgbClr val="2D6A8F"/>
          </a:solidFill>
          <a:ln/>
        </p:spPr>
      </p:sp>
      <p:pic>
        <p:nvPicPr>
          <p:cNvPr id="7" name="Image 0" descr="preencoded.png">    </p:cNvPr>
          <p:cNvPicPr>
            <a:picLocks noChangeAspect="1"/>
          </p:cNvPicPr>
          <p:nvPr/>
        </p:nvPicPr>
        <p:blipFill>
          <a:blip r:embed="rId1"/>
          <a:stretch>
            <a:fillRect/>
          </a:stretch>
        </p:blipFill>
        <p:spPr>
          <a:xfrm>
            <a:off x="822960" y="1207008"/>
            <a:ext cx="320040" cy="320040"/>
          </a:xfrm>
          <a:prstGeom prst="rect">
            <a:avLst/>
          </a:prstGeom>
        </p:spPr>
      </p:pic>
      <p:sp>
        <p:nvSpPr>
          <p:cNvPr id="8" name="Text 5"/>
          <p:cNvSpPr/>
          <p:nvPr/>
        </p:nvSpPr>
        <p:spPr>
          <a:xfrm>
            <a:off x="1188720" y="118872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AWSサービス</a:t>
            </a:r>
            <a:endParaRPr lang="en-US" sz="1300" dirty="0"/>
          </a:p>
        </p:txBody>
      </p:sp>
      <p:sp>
        <p:nvSpPr>
          <p:cNvPr id="9" name="Text 6"/>
          <p:cNvSpPr/>
          <p:nvPr/>
        </p:nvSpPr>
        <p:spPr>
          <a:xfrm>
            <a:off x="822960" y="1664208"/>
            <a:ext cx="2148840" cy="274320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API Gateway（HTTP API）</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Lambda（Python 3.x）</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DynamoDB（5テーブル）</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Amplify（フロントエンド）</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Bedrock（Nova Lite）</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IAM（実行ロール管理）</a:t>
            </a:r>
            <a:endParaRPr lang="en-US" sz="1150" dirty="0"/>
          </a:p>
        </p:txBody>
      </p:sp>
      <p:sp>
        <p:nvSpPr>
          <p:cNvPr id="10" name="Shape 7"/>
          <p:cNvSpPr/>
          <p:nvPr/>
        </p:nvSpPr>
        <p:spPr>
          <a:xfrm>
            <a:off x="3429000" y="1143000"/>
            <a:ext cx="2514600" cy="3611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3429000" y="1143000"/>
            <a:ext cx="2514600" cy="457200"/>
          </a:xfrm>
          <a:prstGeom prst="rect">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3611880" y="1207008"/>
            <a:ext cx="320040" cy="320040"/>
          </a:xfrm>
          <a:prstGeom prst="rect">
            <a:avLst/>
          </a:prstGeom>
        </p:spPr>
      </p:pic>
      <p:sp>
        <p:nvSpPr>
          <p:cNvPr id="13" name="Text 9"/>
          <p:cNvSpPr/>
          <p:nvPr/>
        </p:nvSpPr>
        <p:spPr>
          <a:xfrm>
            <a:off x="3977640" y="118872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フロントエンド</a:t>
            </a:r>
            <a:endParaRPr lang="en-US" sz="1300" dirty="0"/>
          </a:p>
        </p:txBody>
      </p:sp>
      <p:sp>
        <p:nvSpPr>
          <p:cNvPr id="14" name="Text 10"/>
          <p:cNvSpPr/>
          <p:nvPr/>
        </p:nvSpPr>
        <p:spPr>
          <a:xfrm>
            <a:off x="3611880" y="1664208"/>
            <a:ext cx="2148840" cy="274320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HTML + JavaScript</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Bootstrap 5.3</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Leaflet.js（地図表示）</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6ページ構成</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フレームワーク不使用</a:t>
            </a:r>
            <a:endParaRPr lang="en-US" sz="1150" dirty="0"/>
          </a:p>
        </p:txBody>
      </p:sp>
      <p:sp>
        <p:nvSpPr>
          <p:cNvPr id="15" name="Shape 11"/>
          <p:cNvSpPr/>
          <p:nvPr/>
        </p:nvSpPr>
        <p:spPr>
          <a:xfrm>
            <a:off x="6217920" y="1143000"/>
            <a:ext cx="2514600" cy="3611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2"/>
          <p:cNvSpPr/>
          <p:nvPr/>
        </p:nvSpPr>
        <p:spPr>
          <a:xfrm>
            <a:off x="6217920" y="1143000"/>
            <a:ext cx="2514600" cy="457200"/>
          </a:xfrm>
          <a:prstGeom prst="rect">
            <a:avLst/>
          </a:prstGeom>
          <a:solidFill>
            <a:srgbClr val="D97706"/>
          </a:solidFill>
          <a:ln/>
        </p:spPr>
      </p:sp>
      <p:pic>
        <p:nvPicPr>
          <p:cNvPr id="17" name="Image 2" descr="preencoded.png">    </p:cNvPr>
          <p:cNvPicPr>
            <a:picLocks noChangeAspect="1"/>
          </p:cNvPicPr>
          <p:nvPr/>
        </p:nvPicPr>
        <p:blipFill>
          <a:blip r:embed="rId3"/>
          <a:stretch>
            <a:fillRect/>
          </a:stretch>
        </p:blipFill>
        <p:spPr>
          <a:xfrm>
            <a:off x="6400800" y="1207008"/>
            <a:ext cx="320040" cy="320040"/>
          </a:xfrm>
          <a:prstGeom prst="rect">
            <a:avLst/>
          </a:prstGeom>
        </p:spPr>
      </p:pic>
      <p:sp>
        <p:nvSpPr>
          <p:cNvPr id="18" name="Text 13"/>
          <p:cNvSpPr/>
          <p:nvPr/>
        </p:nvSpPr>
        <p:spPr>
          <a:xfrm>
            <a:off x="6766560" y="118872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開発・デプロイ</a:t>
            </a:r>
            <a:endParaRPr lang="en-US" sz="1300" dirty="0"/>
          </a:p>
        </p:txBody>
      </p:sp>
      <p:sp>
        <p:nvSpPr>
          <p:cNvPr id="19" name="Text 14"/>
          <p:cNvSpPr/>
          <p:nvPr/>
        </p:nvSpPr>
        <p:spPr>
          <a:xfrm>
            <a:off x="6400800" y="1664208"/>
            <a:ext cx="2148840" cy="274320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Amazon Kiro（AIエージェント）</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全サービス手動構築</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SAM/CloudFormation不使用</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Lambda: 単一関数で全API処理</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リージョン: ap-northeast-3</a:t>
            </a:r>
            <a:endParaRPr lang="en-US" sz="1150" dirty="0"/>
          </a:p>
        </p:txBody>
      </p:sp>
      <p:sp>
        <p:nvSpPr>
          <p:cNvPr id="20" name="Shape 15"/>
          <p:cNvSpPr/>
          <p:nvPr/>
        </p:nvSpPr>
        <p:spPr>
          <a:xfrm>
            <a:off x="640080" y="4572000"/>
            <a:ext cx="7863840" cy="365760"/>
          </a:xfrm>
          <a:prstGeom prst="rect">
            <a:avLst/>
          </a:prstGeom>
          <a:solidFill>
            <a:srgbClr val="1B2A4A"/>
          </a:solidFill>
          <a:ln/>
        </p:spPr>
      </p:sp>
      <p:sp>
        <p:nvSpPr>
          <p:cNvPr id="21" name="Text 16"/>
          <p:cNvSpPr/>
          <p:nvPr/>
        </p:nvSpPr>
        <p:spPr>
          <a:xfrm>
            <a:off x="822960" y="4590288"/>
            <a:ext cx="7498080" cy="329184"/>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技術選定の意図：S3ではなくAmplifyを採用 → zip手動デプロイで即座に反映でき、学習コストを最小化。フレームワーク不使用 → 素のHTML/JSで動作原理を深く理解する方針。</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Text 1"/>
          <p:cNvSpPr/>
          <p:nvPr/>
        </p:nvSpPr>
        <p:spPr>
          <a:xfrm>
            <a:off x="640080" y="228600"/>
            <a:ext cx="3657600" cy="27432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DATABASE</a:t>
            </a:r>
            <a:endParaRPr lang="en-US" sz="1100" dirty="0"/>
          </a:p>
        </p:txBody>
      </p:sp>
      <p:sp>
        <p:nvSpPr>
          <p:cNvPr id="4" name="Text 2"/>
          <p:cNvSpPr/>
          <p:nvPr/>
        </p:nvSpPr>
        <p:spPr>
          <a:xfrm>
            <a:off x="640080" y="457200"/>
            <a:ext cx="7772400" cy="54864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DynamoDB テーブル設計</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188720"/>
          <a:ext cx="7863840" cy="914400"/>
        </p:xfrm>
        <a:graphic>
          <a:graphicData uri="http://schemas.openxmlformats.org/drawingml/2006/table">
            <a:tbl>
              <a:tblPr/>
              <a:tblGrid>
                <a:gridCol w="2286000"/>
                <a:gridCol w="2468880"/>
                <a:gridCol w="1645920"/>
                <a:gridCol w="1463040"/>
              </a:tblGrid>
              <a:tr h="41148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テーブル名</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管理内容</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Partition Key</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Sort Key</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365760">
                <a:tc>
                  <a:txBody>
                    <a:bodyPr/>
                    <a:lstStyle/>
                    <a:p>
                      <a:pPr indent="0" marL="0">
                        <a:buNone/>
                      </a:pPr>
                      <a:r>
                        <a:rPr lang="en-US" sz="1100" b="1" dirty="0">
                          <a:solidFill>
                            <a:srgbClr val="2D6A8F"/>
                          </a:solidFill>
                          <a:latin typeface="Consolas" pitchFamily="34" charset="0"/>
                          <a:ea typeface="Consolas" pitchFamily="34" charset="-122"/>
                          <a:cs typeface="Consolas" pitchFamily="34" charset="-120"/>
                        </a:rPr>
                        <a:t>shelterDB</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避難所の基本情報</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1E293B"/>
                          </a:solidFill>
                          <a:latin typeface="Consolas" pitchFamily="34" charset="0"/>
                          <a:ea typeface="Consolas" pitchFamily="34" charset="-122"/>
                          <a:cs typeface="Consolas" pitchFamily="34" charset="-120"/>
                        </a:rPr>
                        <a:t>shelterID</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1E293B"/>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2D6A8F"/>
                          </a:solidFill>
                          <a:latin typeface="Consolas" pitchFamily="34" charset="0"/>
                          <a:ea typeface="Consolas" pitchFamily="34" charset="-122"/>
                          <a:cs typeface="Consolas" pitchFamily="34" charset="-120"/>
                        </a:rPr>
                        <a:t>ShelterSupplies</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各避難所の物資在庫</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onsolas" pitchFamily="34" charset="0"/>
                          <a:ea typeface="Consolas" pitchFamily="34" charset="-122"/>
                          <a:cs typeface="Consolas" pitchFamily="34" charset="-120"/>
                        </a:rPr>
                        <a:t>shelter_id</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onsolas" pitchFamily="34" charset="0"/>
                          <a:ea typeface="Consolas" pitchFamily="34" charset="-122"/>
                          <a:cs typeface="Consolas" pitchFamily="34" charset="-120"/>
                        </a:rPr>
                        <a:t>item_name</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2D6A8F"/>
                          </a:solidFill>
                          <a:latin typeface="Consolas" pitchFamily="34" charset="0"/>
                          <a:ea typeface="Consolas" pitchFamily="34" charset="-122"/>
                          <a:cs typeface="Consolas" pitchFamily="34" charset="-120"/>
                        </a:rPr>
                        <a:t>SupplyRequests</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物資補充要請</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1E293B"/>
                          </a:solidFill>
                          <a:latin typeface="Consolas" pitchFamily="34" charset="0"/>
                          <a:ea typeface="Consolas" pitchFamily="34" charset="-122"/>
                          <a:cs typeface="Consolas" pitchFamily="34" charset="-120"/>
                        </a:rPr>
                        <a:t>request_id</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1E293B"/>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2D6A8F"/>
                          </a:solidFill>
                          <a:latin typeface="Consolas" pitchFamily="34" charset="0"/>
                          <a:ea typeface="Consolas" pitchFamily="34" charset="-122"/>
                          <a:cs typeface="Consolas" pitchFamily="34" charset="-120"/>
                        </a:rPr>
                        <a:t>WarehouseInventory</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中央倉庫の在庫</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onsolas" pitchFamily="34" charset="0"/>
                          <a:ea typeface="Consolas" pitchFamily="34" charset="-122"/>
                          <a:cs typeface="Consolas" pitchFamily="34" charset="-120"/>
                        </a:rPr>
                        <a:t>warehouse_id</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onsolas" pitchFamily="34" charset="0"/>
                          <a:ea typeface="Consolas" pitchFamily="34" charset="-122"/>
                          <a:cs typeface="Consolas" pitchFamily="34" charset="-120"/>
                        </a:rPr>
                        <a:t>item_name</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2D6A8F"/>
                          </a:solidFill>
                          <a:latin typeface="Consolas" pitchFamily="34" charset="0"/>
                          <a:ea typeface="Consolas" pitchFamily="34" charset="-122"/>
                          <a:cs typeface="Consolas" pitchFamily="34" charset="-120"/>
                        </a:rPr>
                        <a:t>ShelterUsers</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職員認証情報</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1E293B"/>
                          </a:solidFill>
                          <a:latin typeface="Consolas" pitchFamily="34" charset="0"/>
                          <a:ea typeface="Consolas" pitchFamily="34" charset="-122"/>
                          <a:cs typeface="Consolas" pitchFamily="34" charset="-120"/>
                        </a:rPr>
                        <a:t>userID</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1E293B"/>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6" name="Text 3"/>
          <p:cNvSpPr/>
          <p:nvPr/>
        </p:nvSpPr>
        <p:spPr>
          <a:xfrm>
            <a:off x="640080" y="3840480"/>
            <a:ext cx="7863840" cy="411480"/>
          </a:xfrm>
          <a:prstGeom prst="rect">
            <a:avLst/>
          </a:prstGeom>
          <a:noFill/>
          <a:ln/>
        </p:spPr>
        <p:txBody>
          <a:bodyPr wrap="square" lIns="0" tIns="0" rIns="0" bIns="0" rtlCol="0" anchor="ctr"/>
          <a:lstStyle/>
          <a:p>
            <a:pPr indent="0" marL="0">
              <a:buNone/>
            </a:pPr>
            <a:r>
              <a:rPr lang="en-US" sz="1000" i="1" dirty="0">
                <a:solidFill>
                  <a:srgbClr val="4B5563"/>
                </a:solidFill>
                <a:latin typeface="Calibri" pitchFamily="34" charset="0"/>
                <a:ea typeface="Calibri" pitchFamily="34" charset="-122"/>
                <a:cs typeface="Calibri" pitchFamily="34" charset="-120"/>
              </a:rPr>
              <a:t>設計意図：物資を「避難所×品目」単位で管理するため、ShelterSupplies・WarehouseInventory に複合キー（PK+SK）を採用。SupplyRequestsはUUIDで一意管理し、要請の追跡性を確保。</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Text 1"/>
          <p:cNvSpPr/>
          <p:nvPr/>
        </p:nvSpPr>
        <p:spPr>
          <a:xfrm>
            <a:off x="640080" y="228600"/>
            <a:ext cx="3657600" cy="27432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AI FEATURE</a:t>
            </a:r>
            <a:endParaRPr lang="en-US" sz="1100" dirty="0"/>
          </a:p>
        </p:txBody>
      </p:sp>
      <p:sp>
        <p:nvSpPr>
          <p:cNvPr id="4" name="Text 2"/>
          <p:cNvSpPr/>
          <p:nvPr/>
        </p:nvSpPr>
        <p:spPr>
          <a:xfrm>
            <a:off x="640080" y="457200"/>
            <a:ext cx="7772400" cy="54864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AIチャット機能（Amazon Bedrock）</a:t>
            </a:r>
            <a:endParaRPr lang="en-US" sz="2800" dirty="0"/>
          </a:p>
        </p:txBody>
      </p:sp>
      <p:sp>
        <p:nvSpPr>
          <p:cNvPr id="5" name="Shape 3"/>
          <p:cNvSpPr/>
          <p:nvPr/>
        </p:nvSpPr>
        <p:spPr>
          <a:xfrm>
            <a:off x="640080" y="1143000"/>
            <a:ext cx="4114800" cy="3611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Text 4"/>
          <p:cNvSpPr/>
          <p:nvPr/>
        </p:nvSpPr>
        <p:spPr>
          <a:xfrm>
            <a:off x="914400" y="1280160"/>
            <a:ext cx="347472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処理フロー（RAGに近い構成）</a:t>
            </a:r>
            <a:endParaRPr lang="en-US" sz="1300" dirty="0"/>
          </a:p>
        </p:txBody>
      </p:sp>
      <p:sp>
        <p:nvSpPr>
          <p:cNvPr id="7" name="Shape 5"/>
          <p:cNvSpPr/>
          <p:nvPr/>
        </p:nvSpPr>
        <p:spPr>
          <a:xfrm>
            <a:off x="914400" y="1691640"/>
            <a:ext cx="320040" cy="320040"/>
          </a:xfrm>
          <a:prstGeom prst="ellipse">
            <a:avLst/>
          </a:prstGeom>
          <a:solidFill>
            <a:srgbClr val="3B82F6"/>
          </a:solidFill>
          <a:ln/>
        </p:spPr>
      </p:sp>
      <p:sp>
        <p:nvSpPr>
          <p:cNvPr id="8" name="Text 6"/>
          <p:cNvSpPr/>
          <p:nvPr/>
        </p:nvSpPr>
        <p:spPr>
          <a:xfrm>
            <a:off x="914400" y="169164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371600" y="1645920"/>
            <a:ext cx="3108960" cy="457200"/>
          </a:xfrm>
          <a:prstGeom prst="rect">
            <a:avLst/>
          </a:prstGeom>
          <a:noFill/>
          <a:ln/>
        </p:spPr>
        <p:txBody>
          <a:bodyPr wrap="square" lIns="0" tIns="0" rIns="0" bIns="0" rtlCol="0" anchor="ctr"/>
          <a:lstStyle/>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ユーザーが自然言語で質問</a:t>
            </a:r>
            <a:endParaRPr lang="en-US" sz="1100" dirty="0"/>
          </a:p>
        </p:txBody>
      </p:sp>
      <p:sp>
        <p:nvSpPr>
          <p:cNvPr id="10" name="Shape 8"/>
          <p:cNvSpPr/>
          <p:nvPr/>
        </p:nvSpPr>
        <p:spPr>
          <a:xfrm>
            <a:off x="914400" y="2423160"/>
            <a:ext cx="320040" cy="320040"/>
          </a:xfrm>
          <a:prstGeom prst="ellipse">
            <a:avLst/>
          </a:prstGeom>
          <a:solidFill>
            <a:srgbClr val="2D6A8F"/>
          </a:solidFill>
          <a:ln/>
        </p:spPr>
      </p:sp>
      <p:sp>
        <p:nvSpPr>
          <p:cNvPr id="11" name="Text 9"/>
          <p:cNvSpPr/>
          <p:nvPr/>
        </p:nvSpPr>
        <p:spPr>
          <a:xfrm>
            <a:off x="914400" y="24231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371600" y="2377440"/>
            <a:ext cx="3108960" cy="457200"/>
          </a:xfrm>
          <a:prstGeom prst="rect">
            <a:avLst/>
          </a:prstGeom>
          <a:noFill/>
          <a:ln/>
        </p:spPr>
        <p:txBody>
          <a:bodyPr wrap="square" lIns="0" tIns="0" rIns="0" bIns="0" rtlCol="0" anchor="ctr"/>
          <a:lstStyle/>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Lambda が DynamoDB から</a:t>
            </a:r>
            <a:endParaRPr lang="en-US" sz="1100" dirty="0"/>
          </a:p>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全避難所・物資データを取得</a:t>
            </a:r>
            <a:endParaRPr lang="en-US" sz="1100" dirty="0"/>
          </a:p>
        </p:txBody>
      </p:sp>
      <p:sp>
        <p:nvSpPr>
          <p:cNvPr id="13" name="Shape 11"/>
          <p:cNvSpPr/>
          <p:nvPr/>
        </p:nvSpPr>
        <p:spPr>
          <a:xfrm>
            <a:off x="914400" y="3154680"/>
            <a:ext cx="320040" cy="320040"/>
          </a:xfrm>
          <a:prstGeom prst="ellipse">
            <a:avLst/>
          </a:prstGeom>
          <a:solidFill>
            <a:srgbClr val="0D9488"/>
          </a:solidFill>
          <a:ln/>
        </p:spPr>
      </p:sp>
      <p:sp>
        <p:nvSpPr>
          <p:cNvPr id="14" name="Text 12"/>
          <p:cNvSpPr/>
          <p:nvPr/>
        </p:nvSpPr>
        <p:spPr>
          <a:xfrm>
            <a:off x="914400" y="31546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371600" y="3108960"/>
            <a:ext cx="3108960" cy="457200"/>
          </a:xfrm>
          <a:prstGeom prst="rect">
            <a:avLst/>
          </a:prstGeom>
          <a:noFill/>
          <a:ln/>
        </p:spPr>
        <p:txBody>
          <a:bodyPr wrap="square" lIns="0" tIns="0" rIns="0" bIns="0" rtlCol="0" anchor="ctr"/>
          <a:lstStyle/>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取得データをJSON形式で</a:t>
            </a:r>
            <a:endParaRPr lang="en-US" sz="1100" dirty="0"/>
          </a:p>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システムプロンプトに注入</a:t>
            </a:r>
            <a:endParaRPr lang="en-US" sz="1100" dirty="0"/>
          </a:p>
        </p:txBody>
      </p:sp>
      <p:sp>
        <p:nvSpPr>
          <p:cNvPr id="16" name="Shape 14"/>
          <p:cNvSpPr/>
          <p:nvPr/>
        </p:nvSpPr>
        <p:spPr>
          <a:xfrm>
            <a:off x="914400" y="3886200"/>
            <a:ext cx="320040" cy="320040"/>
          </a:xfrm>
          <a:prstGeom prst="ellipse">
            <a:avLst/>
          </a:prstGeom>
          <a:solidFill>
            <a:srgbClr val="D97706"/>
          </a:solidFill>
          <a:ln/>
        </p:spPr>
      </p:sp>
      <p:sp>
        <p:nvSpPr>
          <p:cNvPr id="17" name="Text 15"/>
          <p:cNvSpPr/>
          <p:nvPr/>
        </p:nvSpPr>
        <p:spPr>
          <a:xfrm>
            <a:off x="914400" y="388620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1371600" y="3840480"/>
            <a:ext cx="3108960" cy="457200"/>
          </a:xfrm>
          <a:prstGeom prst="rect">
            <a:avLst/>
          </a:prstGeom>
          <a:noFill/>
          <a:ln/>
        </p:spPr>
        <p:txBody>
          <a:bodyPr wrap="square" lIns="0" tIns="0" rIns="0" bIns="0" rtlCol="0" anchor="ctr"/>
          <a:lstStyle/>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Bedrock（Nova Lite）が</a:t>
            </a:r>
            <a:endParaRPr lang="en-US" sz="1100" dirty="0"/>
          </a:p>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データに基づいて自然言語で回答</a:t>
            </a:r>
            <a:endParaRPr lang="en-US" sz="1100" dirty="0"/>
          </a:p>
        </p:txBody>
      </p:sp>
      <p:sp>
        <p:nvSpPr>
          <p:cNvPr id="19" name="Shape 17"/>
          <p:cNvSpPr/>
          <p:nvPr/>
        </p:nvSpPr>
        <p:spPr>
          <a:xfrm>
            <a:off x="5029200" y="1143000"/>
            <a:ext cx="3474720" cy="3611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Text 18"/>
          <p:cNvSpPr/>
          <p:nvPr/>
        </p:nvSpPr>
        <p:spPr>
          <a:xfrm>
            <a:off x="5303520" y="1280160"/>
            <a:ext cx="292608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質問の例</a:t>
            </a:r>
            <a:endParaRPr lang="en-US" sz="1300" dirty="0"/>
          </a:p>
        </p:txBody>
      </p:sp>
      <p:sp>
        <p:nvSpPr>
          <p:cNvPr id="21" name="Shape 19"/>
          <p:cNvSpPr/>
          <p:nvPr/>
        </p:nvSpPr>
        <p:spPr>
          <a:xfrm>
            <a:off x="5212080" y="1691640"/>
            <a:ext cx="3108960" cy="594360"/>
          </a:xfrm>
          <a:prstGeom prst="rect">
            <a:avLst/>
          </a:prstGeom>
          <a:solidFill>
            <a:srgbClr val="F1F5F9"/>
          </a:solidFill>
          <a:ln/>
        </p:spPr>
      </p:sp>
      <p:sp>
        <p:nvSpPr>
          <p:cNvPr id="22" name="Text 20"/>
          <p:cNvSpPr/>
          <p:nvPr/>
        </p:nvSpPr>
        <p:spPr>
          <a:xfrm>
            <a:off x="5349240" y="1709928"/>
            <a:ext cx="2834640" cy="548640"/>
          </a:xfrm>
          <a:prstGeom prst="rect">
            <a:avLst/>
          </a:prstGeom>
          <a:noFill/>
          <a:ln/>
        </p:spPr>
        <p:txBody>
          <a:bodyPr wrap="square" lIns="0" tIns="0" rIns="0" bIns="0" rtlCol="0" anchor="ctr"/>
          <a:lstStyle/>
          <a:p>
            <a:pPr indent="0" marL="0">
              <a:lnSpc>
                <a:spcPct val="120000"/>
              </a:lnSpc>
              <a:buNone/>
            </a:pPr>
            <a:r>
              <a:rPr lang="en-US" sz="950" dirty="0">
                <a:solidFill>
                  <a:srgbClr val="1E293B"/>
                </a:solidFill>
                <a:latin typeface="Calibri" pitchFamily="34" charset="0"/>
                <a:ea typeface="Calibri" pitchFamily="34" charset="-122"/>
                <a:cs typeface="Calibri" pitchFamily="34" charset="-120"/>
              </a:rPr>
              <a:t>「満員の避難所は？」</a:t>
            </a:r>
            <a:endParaRPr lang="en-US" sz="950" dirty="0"/>
          </a:p>
          <a:p>
            <a:pPr indent="0" marL="0">
              <a:lnSpc>
                <a:spcPct val="120000"/>
              </a:lnSpc>
              <a:buNone/>
            </a:pPr>
            <a:r>
              <a:rPr lang="en-US" sz="950" dirty="0">
                <a:solidFill>
                  <a:srgbClr val="1E293B"/>
                </a:solidFill>
                <a:latin typeface="Calibri" pitchFamily="34" charset="0"/>
                <a:ea typeface="Calibri" pitchFamily="34" charset="-122"/>
                <a:cs typeface="Calibri" pitchFamily="34" charset="-120"/>
              </a:rPr>
              <a:t>→ 状態がFULLの避難所を一覧表示</a:t>
            </a:r>
            <a:endParaRPr lang="en-US" sz="950" dirty="0"/>
          </a:p>
        </p:txBody>
      </p:sp>
      <p:sp>
        <p:nvSpPr>
          <p:cNvPr id="23" name="Shape 21"/>
          <p:cNvSpPr/>
          <p:nvPr/>
        </p:nvSpPr>
        <p:spPr>
          <a:xfrm>
            <a:off x="5212080" y="2423160"/>
            <a:ext cx="3108960" cy="594360"/>
          </a:xfrm>
          <a:prstGeom prst="rect">
            <a:avLst/>
          </a:prstGeom>
          <a:solidFill>
            <a:srgbClr val="F1F5F9"/>
          </a:solidFill>
          <a:ln/>
        </p:spPr>
      </p:sp>
      <p:sp>
        <p:nvSpPr>
          <p:cNvPr id="24" name="Text 22"/>
          <p:cNvSpPr/>
          <p:nvPr/>
        </p:nvSpPr>
        <p:spPr>
          <a:xfrm>
            <a:off x="5349240" y="2441448"/>
            <a:ext cx="2834640" cy="548640"/>
          </a:xfrm>
          <a:prstGeom prst="rect">
            <a:avLst/>
          </a:prstGeom>
          <a:noFill/>
          <a:ln/>
        </p:spPr>
        <p:txBody>
          <a:bodyPr wrap="square" lIns="0" tIns="0" rIns="0" bIns="0" rtlCol="0" anchor="ctr"/>
          <a:lstStyle/>
          <a:p>
            <a:pPr indent="0" marL="0">
              <a:lnSpc>
                <a:spcPct val="120000"/>
              </a:lnSpc>
              <a:buNone/>
            </a:pPr>
            <a:r>
              <a:rPr lang="en-US" sz="950" dirty="0">
                <a:solidFill>
                  <a:srgbClr val="1E293B"/>
                </a:solidFill>
                <a:latin typeface="Calibri" pitchFamily="34" charset="0"/>
                <a:ea typeface="Calibri" pitchFamily="34" charset="-122"/>
                <a:cs typeface="Calibri" pitchFamily="34" charset="-120"/>
              </a:rPr>
              <a:t>「使用率が高い順に表示して」</a:t>
            </a:r>
            <a:endParaRPr lang="en-US" sz="950" dirty="0"/>
          </a:p>
          <a:p>
            <a:pPr indent="0" marL="0">
              <a:lnSpc>
                <a:spcPct val="120000"/>
              </a:lnSpc>
              <a:buNone/>
            </a:pPr>
            <a:r>
              <a:rPr lang="en-US" sz="950" dirty="0">
                <a:solidFill>
                  <a:srgbClr val="1E293B"/>
                </a:solidFill>
                <a:latin typeface="Calibri" pitchFamily="34" charset="0"/>
                <a:ea typeface="Calibri" pitchFamily="34" charset="-122"/>
                <a:cs typeface="Calibri" pitchFamily="34" charset="-120"/>
              </a:rPr>
              <a:t>→ 収容率を計算しランキング表示</a:t>
            </a:r>
            <a:endParaRPr lang="en-US" sz="950" dirty="0"/>
          </a:p>
        </p:txBody>
      </p:sp>
      <p:sp>
        <p:nvSpPr>
          <p:cNvPr id="25" name="Shape 23"/>
          <p:cNvSpPr/>
          <p:nvPr/>
        </p:nvSpPr>
        <p:spPr>
          <a:xfrm>
            <a:off x="5212080" y="3154680"/>
            <a:ext cx="3108960" cy="594360"/>
          </a:xfrm>
          <a:prstGeom prst="rect">
            <a:avLst/>
          </a:prstGeom>
          <a:solidFill>
            <a:srgbClr val="F1F5F9"/>
          </a:solidFill>
          <a:ln/>
        </p:spPr>
      </p:sp>
      <p:sp>
        <p:nvSpPr>
          <p:cNvPr id="26" name="Text 24"/>
          <p:cNvSpPr/>
          <p:nvPr/>
        </p:nvSpPr>
        <p:spPr>
          <a:xfrm>
            <a:off x="5349240" y="3172968"/>
            <a:ext cx="2834640" cy="548640"/>
          </a:xfrm>
          <a:prstGeom prst="rect">
            <a:avLst/>
          </a:prstGeom>
          <a:noFill/>
          <a:ln/>
        </p:spPr>
        <p:txBody>
          <a:bodyPr wrap="square" lIns="0" tIns="0" rIns="0" bIns="0" rtlCol="0" anchor="ctr"/>
          <a:lstStyle/>
          <a:p>
            <a:pPr indent="0" marL="0">
              <a:lnSpc>
                <a:spcPct val="120000"/>
              </a:lnSpc>
              <a:buNone/>
            </a:pPr>
            <a:r>
              <a:rPr lang="en-US" sz="950" dirty="0">
                <a:solidFill>
                  <a:srgbClr val="1E293B"/>
                </a:solidFill>
                <a:latin typeface="Calibri" pitchFamily="34" charset="0"/>
                <a:ea typeface="Calibri" pitchFamily="34" charset="-122"/>
                <a:cs typeface="Calibri" pitchFamily="34" charset="-120"/>
              </a:rPr>
              <a:t>「水の在庫が少ない避難所は？」</a:t>
            </a:r>
            <a:endParaRPr lang="en-US" sz="950" dirty="0"/>
          </a:p>
          <a:p>
            <a:pPr indent="0" marL="0">
              <a:lnSpc>
                <a:spcPct val="120000"/>
              </a:lnSpc>
              <a:buNone/>
            </a:pPr>
            <a:r>
              <a:rPr lang="en-US" sz="950" dirty="0">
                <a:solidFill>
                  <a:srgbClr val="1E293B"/>
                </a:solidFill>
                <a:latin typeface="Calibri" pitchFamily="34" charset="0"/>
                <a:ea typeface="Calibri" pitchFamily="34" charset="-122"/>
                <a:cs typeface="Calibri" pitchFamily="34" charset="-120"/>
              </a:rPr>
              <a:t>→ 物資データから在庫不足を検索</a:t>
            </a:r>
            <a:endParaRPr lang="en-US" sz="950" dirty="0"/>
          </a:p>
        </p:txBody>
      </p:sp>
      <p:sp>
        <p:nvSpPr>
          <p:cNvPr id="27" name="Shape 25"/>
          <p:cNvSpPr/>
          <p:nvPr/>
        </p:nvSpPr>
        <p:spPr>
          <a:xfrm>
            <a:off x="5212080" y="3886200"/>
            <a:ext cx="3108960" cy="594360"/>
          </a:xfrm>
          <a:prstGeom prst="rect">
            <a:avLst/>
          </a:prstGeom>
          <a:solidFill>
            <a:srgbClr val="F1F5F9"/>
          </a:solidFill>
          <a:ln/>
        </p:spPr>
      </p:sp>
      <p:sp>
        <p:nvSpPr>
          <p:cNvPr id="28" name="Text 26"/>
          <p:cNvSpPr/>
          <p:nvPr/>
        </p:nvSpPr>
        <p:spPr>
          <a:xfrm>
            <a:off x="5349240" y="3904488"/>
            <a:ext cx="2834640" cy="548640"/>
          </a:xfrm>
          <a:prstGeom prst="rect">
            <a:avLst/>
          </a:prstGeom>
          <a:noFill/>
          <a:ln/>
        </p:spPr>
        <p:txBody>
          <a:bodyPr wrap="square" lIns="0" tIns="0" rIns="0" bIns="0" rtlCol="0" anchor="ctr"/>
          <a:lstStyle/>
          <a:p>
            <a:pPr indent="0" marL="0">
              <a:lnSpc>
                <a:spcPct val="120000"/>
              </a:lnSpc>
              <a:buNone/>
            </a:pPr>
            <a:r>
              <a:rPr lang="en-US" sz="950" dirty="0">
                <a:solidFill>
                  <a:srgbClr val="1E293B"/>
                </a:solidFill>
                <a:latin typeface="Calibri" pitchFamily="34" charset="0"/>
                <a:ea typeface="Calibri" pitchFamily="34" charset="-122"/>
                <a:cs typeface="Calibri" pitchFamily="34" charset="-120"/>
              </a:rPr>
              <a:t>「全体の状況をまとめて」</a:t>
            </a:r>
            <a:endParaRPr lang="en-US" sz="950" dirty="0"/>
          </a:p>
          <a:p>
            <a:pPr indent="0" marL="0">
              <a:lnSpc>
                <a:spcPct val="120000"/>
              </a:lnSpc>
              <a:buNone/>
            </a:pPr>
            <a:r>
              <a:rPr lang="en-US" sz="950" dirty="0">
                <a:solidFill>
                  <a:srgbClr val="1E293B"/>
                </a:solidFill>
                <a:latin typeface="Calibri" pitchFamily="34" charset="0"/>
                <a:ea typeface="Calibri" pitchFamily="34" charset="-122"/>
                <a:cs typeface="Calibri" pitchFamily="34" charset="-120"/>
              </a:rPr>
              <a:t>→ 開設数・避難者数・不足箇所を要約</a:t>
            </a:r>
            <a:endParaRPr lang="en-US" sz="950" dirty="0"/>
          </a:p>
        </p:txBody>
      </p:sp>
      <p:sp>
        <p:nvSpPr>
          <p:cNvPr id="29" name="Text 27"/>
          <p:cNvSpPr/>
          <p:nvPr/>
        </p:nvSpPr>
        <p:spPr>
          <a:xfrm>
            <a:off x="640080" y="4526280"/>
            <a:ext cx="7863840" cy="365760"/>
          </a:xfrm>
          <a:prstGeom prst="rect">
            <a:avLst/>
          </a:prstGeom>
          <a:noFill/>
          <a:ln/>
        </p:spPr>
        <p:txBody>
          <a:bodyPr wrap="square" lIns="0" tIns="0" rIns="0" bIns="0" rtlCol="0" anchor="ctr"/>
          <a:lstStyle/>
          <a:p>
            <a:pPr indent="0" marL="0">
              <a:buNone/>
            </a:pPr>
            <a:r>
              <a:rPr lang="en-US" sz="950" b="1" i="1" dirty="0">
                <a:solidFill>
                  <a:srgbClr val="0D9488"/>
                </a:solidFill>
                <a:latin typeface="Calibri" pitchFamily="34" charset="0"/>
                <a:ea typeface="Calibri" pitchFamily="34" charset="-122"/>
                <a:cs typeface="Calibri" pitchFamily="34" charset="-120"/>
              </a:rPr>
              <a:t>一般的なRAGはベクトルDBで類似検索するが、本システムは避難所数が限定的なため全データをプロンプトに直接注入。構成がシンプルで、常に最新の全量データに基づく回答が可能。</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Text 1"/>
          <p:cNvSpPr/>
          <p:nvPr/>
        </p:nvSpPr>
        <p:spPr>
          <a:xfrm>
            <a:off x="640080" y="228600"/>
            <a:ext cx="3657600" cy="27432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DESIGN DECISION</a:t>
            </a:r>
            <a:endParaRPr lang="en-US" sz="1100" dirty="0"/>
          </a:p>
        </p:txBody>
      </p:sp>
      <p:sp>
        <p:nvSpPr>
          <p:cNvPr id="4" name="Text 2"/>
          <p:cNvSpPr/>
          <p:nvPr/>
        </p:nvSpPr>
        <p:spPr>
          <a:xfrm>
            <a:off x="640080" y="457200"/>
            <a:ext cx="7772400" cy="54864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なぜサーバーレスを選んだか</a:t>
            </a:r>
            <a:endParaRPr lang="en-US" sz="2800" dirty="0"/>
          </a:p>
        </p:txBody>
      </p:sp>
      <p:sp>
        <p:nvSpPr>
          <p:cNvPr id="5" name="Shape 3"/>
          <p:cNvSpPr/>
          <p:nvPr/>
        </p:nvSpPr>
        <p:spPr>
          <a:xfrm>
            <a:off x="640080" y="1143000"/>
            <a:ext cx="3840480" cy="2011680"/>
          </a:xfrm>
          <a:prstGeom prst="rect">
            <a:avLst/>
          </a:prstGeom>
          <a:solidFill>
            <a:srgbClr val="FEF3C7"/>
          </a:solidFill>
          <a:ln/>
          <a:effectLst>
            <a:outerShdw sx="100000" sy="100000" kx="0" ky="0" algn="bl" rotWithShape="0" blurRad="76200" dist="25400" dir="81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868680" y="1280160"/>
            <a:ext cx="320040" cy="320040"/>
          </a:xfrm>
          <a:prstGeom prst="rect">
            <a:avLst/>
          </a:prstGeom>
        </p:spPr>
      </p:pic>
      <p:sp>
        <p:nvSpPr>
          <p:cNvPr id="7" name="Text 4"/>
          <p:cNvSpPr/>
          <p:nvPr/>
        </p:nvSpPr>
        <p:spPr>
          <a:xfrm>
            <a:off x="1280160" y="1280160"/>
            <a:ext cx="27432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EC2構成の場合の課題</a:t>
            </a:r>
            <a:endParaRPr lang="en-US" sz="1400" dirty="0"/>
          </a:p>
        </p:txBody>
      </p:sp>
      <p:sp>
        <p:nvSpPr>
          <p:cNvPr id="8" name="Text 5"/>
          <p:cNvSpPr/>
          <p:nvPr/>
        </p:nvSpPr>
        <p:spPr>
          <a:xfrm>
            <a:off x="868680" y="1783080"/>
            <a:ext cx="3383280" cy="12344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ピーク時に合わせたサーバを常時稼働する必要あり</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Auto Scalingの事前チューニングが必要</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（閾値設計・スケールアウトのラグ・過剰調整）</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平常時も維持コストが発生</a:t>
            </a:r>
            <a:endParaRPr lang="en-US" sz="1100" dirty="0"/>
          </a:p>
        </p:txBody>
      </p:sp>
      <p:sp>
        <p:nvSpPr>
          <p:cNvPr id="9" name="Shape 6"/>
          <p:cNvSpPr/>
          <p:nvPr/>
        </p:nvSpPr>
        <p:spPr>
          <a:xfrm>
            <a:off x="4663440" y="1143000"/>
            <a:ext cx="3840480" cy="2011680"/>
          </a:xfrm>
          <a:prstGeom prst="rect">
            <a:avLst/>
          </a:prstGeom>
          <a:solidFill>
            <a:srgbClr val="D1FAE5"/>
          </a:solidFill>
          <a:ln/>
          <a:effectLst>
            <a:outerShdw sx="100000" sy="100000" kx="0" ky="0" algn="bl" rotWithShape="0" blurRad="76200" dist="25400" dir="81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4892040" y="1280160"/>
            <a:ext cx="320040" cy="320040"/>
          </a:xfrm>
          <a:prstGeom prst="rect">
            <a:avLst/>
          </a:prstGeom>
        </p:spPr>
      </p:pic>
      <p:sp>
        <p:nvSpPr>
          <p:cNvPr id="11" name="Text 7"/>
          <p:cNvSpPr/>
          <p:nvPr/>
        </p:nvSpPr>
        <p:spPr>
          <a:xfrm>
            <a:off x="5303520" y="1280160"/>
            <a:ext cx="27432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サーバーレス構成の利点</a:t>
            </a:r>
            <a:endParaRPr lang="en-US" sz="1400" dirty="0"/>
          </a:p>
        </p:txBody>
      </p:sp>
      <p:sp>
        <p:nvSpPr>
          <p:cNvPr id="12" name="Text 8"/>
          <p:cNvSpPr/>
          <p:nvPr/>
        </p:nvSpPr>
        <p:spPr>
          <a:xfrm>
            <a:off x="4892040" y="1783080"/>
            <a:ext cx="3383280" cy="12344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イベント発生時のみ起動 → 平常時コストほぼゼロ</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利用回数ごとの従量課金</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実行回数に応じて自動スケール</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インフラ運用保守はAWSが担当</a:t>
            </a:r>
            <a:endParaRPr lang="en-US" sz="1100" dirty="0"/>
          </a:p>
        </p:txBody>
      </p:sp>
      <p:sp>
        <p:nvSpPr>
          <p:cNvPr id="13" name="Shape 9"/>
          <p:cNvSpPr/>
          <p:nvPr/>
        </p:nvSpPr>
        <p:spPr>
          <a:xfrm>
            <a:off x="640080" y="3429000"/>
            <a:ext cx="7863840" cy="1188720"/>
          </a:xfrm>
          <a:prstGeom prst="rect">
            <a:avLst/>
          </a:prstGeom>
          <a:solidFill>
            <a:srgbClr val="1B2A4A"/>
          </a:solidFill>
          <a:ln/>
        </p:spPr>
      </p:sp>
      <p:pic>
        <p:nvPicPr>
          <p:cNvPr id="14" name="Image 2" descr="preencoded.png">    </p:cNvPr>
          <p:cNvPicPr>
            <a:picLocks noChangeAspect="1"/>
          </p:cNvPicPr>
          <p:nvPr/>
        </p:nvPicPr>
        <p:blipFill>
          <a:blip r:embed="rId3"/>
          <a:stretch>
            <a:fillRect/>
          </a:stretch>
        </p:blipFill>
        <p:spPr>
          <a:xfrm>
            <a:off x="914400" y="3611880"/>
            <a:ext cx="365760" cy="365760"/>
          </a:xfrm>
          <a:prstGeom prst="rect">
            <a:avLst/>
          </a:prstGeom>
        </p:spPr>
      </p:pic>
      <p:sp>
        <p:nvSpPr>
          <p:cNvPr id="15" name="Text 10"/>
          <p:cNvSpPr/>
          <p:nvPr/>
        </p:nvSpPr>
        <p:spPr>
          <a:xfrm>
            <a:off x="1371600" y="3611880"/>
            <a:ext cx="1828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設計判断</a:t>
            </a:r>
            <a:endParaRPr lang="en-US" sz="1500" dirty="0"/>
          </a:p>
        </p:txBody>
      </p:sp>
      <p:sp>
        <p:nvSpPr>
          <p:cNvPr id="16" name="Text 11"/>
          <p:cNvSpPr/>
          <p:nvPr/>
        </p:nvSpPr>
        <p:spPr>
          <a:xfrm>
            <a:off x="914400" y="4023360"/>
            <a:ext cx="7315200" cy="50292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Calibri" pitchFamily="34" charset="0"/>
                <a:ea typeface="Calibri" pitchFamily="34" charset="-122"/>
                <a:cs typeface="Calibri" pitchFamily="34" charset="-120"/>
              </a:rPr>
              <a:t>災害時の避難所管理は、平常時のアクセスがほぼゼロ、被災時にアクセスが急増する極端な特性を持つ。</a:t>
            </a:r>
            <a:endParaRPr lang="en-US" sz="1150" dirty="0"/>
          </a:p>
          <a:p>
            <a:pPr indent="0" marL="0">
              <a:lnSpc>
                <a:spcPct val="130000"/>
              </a:lnSpc>
              <a:buNone/>
            </a:pPr>
            <a:r>
              <a:rPr lang="en-US" sz="1150" dirty="0">
                <a:solidFill>
                  <a:srgbClr val="FFFFFF"/>
                </a:solidFill>
                <a:latin typeface="Calibri" pitchFamily="34" charset="0"/>
                <a:ea typeface="Calibri" pitchFamily="34" charset="-122"/>
                <a:cs typeface="Calibri" pitchFamily="34" charset="-120"/>
              </a:rPr>
              <a:t>この特性に最も適合するのがサーバーレス構成であると判断し、EC2を使用しない設計を選択した。</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Text 1"/>
          <p:cNvSpPr/>
          <p:nvPr/>
        </p:nvSpPr>
        <p:spPr>
          <a:xfrm>
            <a:off x="640080" y="228600"/>
            <a:ext cx="3657600" cy="27432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DEMO</a:t>
            </a:r>
            <a:endParaRPr lang="en-US" sz="1100" dirty="0"/>
          </a:p>
        </p:txBody>
      </p:sp>
      <p:sp>
        <p:nvSpPr>
          <p:cNvPr id="4" name="Text 2"/>
          <p:cNvSpPr/>
          <p:nvPr/>
        </p:nvSpPr>
        <p:spPr>
          <a:xfrm>
            <a:off x="640080" y="457200"/>
            <a:ext cx="7772400" cy="54864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自治体本部モード</a:t>
            </a:r>
            <a:endParaRPr lang="en-US" sz="2800" dirty="0"/>
          </a:p>
        </p:txBody>
      </p:sp>
      <p:sp>
        <p:nvSpPr>
          <p:cNvPr id="5" name="Shape 3"/>
          <p:cNvSpPr/>
          <p:nvPr/>
        </p:nvSpPr>
        <p:spPr>
          <a:xfrm>
            <a:off x="594360" y="1097280"/>
            <a:ext cx="7955280" cy="3708806"/>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6" name="Image 0" descr="/home/claude/ss_hq.png">    </p:cNvPr>
          <p:cNvPicPr>
            <a:picLocks noChangeAspect="1"/>
          </p:cNvPicPr>
          <p:nvPr/>
        </p:nvPicPr>
        <p:blipFill>
          <a:blip r:embed="rId1"/>
          <a:stretch>
            <a:fillRect/>
          </a:stretch>
        </p:blipFill>
        <p:spPr>
          <a:xfrm>
            <a:off x="640080" y="1143000"/>
            <a:ext cx="7863840" cy="3617366"/>
          </a:xfrm>
          <a:prstGeom prst="rect">
            <a:avLst/>
          </a:prstGeom>
        </p:spPr>
      </p:pic>
      <p:sp>
        <p:nvSpPr>
          <p:cNvPr id="7" name="Text 4"/>
          <p:cNvSpPr/>
          <p:nvPr/>
        </p:nvSpPr>
        <p:spPr>
          <a:xfrm>
            <a:off x="640080" y="4897526"/>
            <a:ext cx="7863840" cy="274320"/>
          </a:xfrm>
          <a:prstGeom prst="rect">
            <a:avLst/>
          </a:prstGeom>
          <a:noFill/>
          <a:ln/>
        </p:spPr>
        <p:txBody>
          <a:bodyPr wrap="square" lIns="0" tIns="0" rIns="0" bIns="0" rtlCol="0" anchor="ctr"/>
          <a:lstStyle/>
          <a:p>
            <a:pPr indent="0" marL="0">
              <a:buNone/>
            </a:pPr>
            <a:r>
              <a:rPr lang="en-US" sz="1000" i="1" dirty="0">
                <a:solidFill>
                  <a:srgbClr val="4B5563"/>
                </a:solidFill>
                <a:latin typeface="Calibri" pitchFamily="34" charset="0"/>
                <a:ea typeface="Calibri" pitchFamily="34" charset="-122"/>
                <a:cs typeface="Calibri" pitchFamily="34" charset="-120"/>
              </a:rPr>
              <a:t>地図上で避難所の状態を俯瞰（OPEN/FULL/CLOSED）＋ 物資補充要請の承認・AIチャットでの状況照会</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Text 1"/>
          <p:cNvSpPr/>
          <p:nvPr/>
        </p:nvSpPr>
        <p:spPr>
          <a:xfrm>
            <a:off x="640080" y="228600"/>
            <a:ext cx="3657600" cy="27432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DEMO</a:t>
            </a:r>
            <a:endParaRPr lang="en-US" sz="1100" dirty="0"/>
          </a:p>
        </p:txBody>
      </p:sp>
      <p:sp>
        <p:nvSpPr>
          <p:cNvPr id="4" name="Text 2"/>
          <p:cNvSpPr/>
          <p:nvPr/>
        </p:nvSpPr>
        <p:spPr>
          <a:xfrm>
            <a:off x="640080" y="457200"/>
            <a:ext cx="7772400" cy="54864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現場報告モード ／ 中央物流モード</a:t>
            </a:r>
            <a:endParaRPr lang="en-US" sz="2800" dirty="0"/>
          </a:p>
        </p:txBody>
      </p:sp>
      <p:sp>
        <p:nvSpPr>
          <p:cNvPr id="5" name="Shape 3"/>
          <p:cNvSpPr/>
          <p:nvPr/>
        </p:nvSpPr>
        <p:spPr>
          <a:xfrm>
            <a:off x="594360" y="1097280"/>
            <a:ext cx="3886200" cy="2261791"/>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94360" y="1097280"/>
            <a:ext cx="3886200" cy="320040"/>
          </a:xfrm>
          <a:prstGeom prst="rect">
            <a:avLst/>
          </a:prstGeom>
          <a:solidFill>
            <a:srgbClr val="059669"/>
          </a:solidFill>
          <a:ln/>
        </p:spPr>
      </p:sp>
      <p:sp>
        <p:nvSpPr>
          <p:cNvPr id="7" name="Text 5"/>
          <p:cNvSpPr/>
          <p:nvPr/>
        </p:nvSpPr>
        <p:spPr>
          <a:xfrm>
            <a:off x="777240" y="1097280"/>
            <a:ext cx="320040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現場報告モード</a:t>
            </a:r>
            <a:endParaRPr lang="en-US" sz="1100" dirty="0"/>
          </a:p>
        </p:txBody>
      </p:sp>
      <p:pic>
        <p:nvPicPr>
          <p:cNvPr id="8" name="Image 0" descr="/home/claude/ss_field_new.png">    </p:cNvPr>
          <p:cNvPicPr>
            <a:picLocks noChangeAspect="1"/>
          </p:cNvPicPr>
          <p:nvPr/>
        </p:nvPicPr>
        <p:blipFill>
          <a:blip r:embed="rId1"/>
          <a:stretch>
            <a:fillRect/>
          </a:stretch>
        </p:blipFill>
        <p:spPr>
          <a:xfrm>
            <a:off x="640080" y="1463040"/>
            <a:ext cx="3794760" cy="1758871"/>
          </a:xfrm>
          <a:prstGeom prst="rect">
            <a:avLst/>
          </a:prstGeom>
        </p:spPr>
      </p:pic>
      <p:sp>
        <p:nvSpPr>
          <p:cNvPr id="9" name="Shape 6"/>
          <p:cNvSpPr/>
          <p:nvPr/>
        </p:nvSpPr>
        <p:spPr>
          <a:xfrm>
            <a:off x="4663440" y="1097280"/>
            <a:ext cx="3886200" cy="2269381"/>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663440" y="1097280"/>
            <a:ext cx="3886200" cy="320040"/>
          </a:xfrm>
          <a:prstGeom prst="rect">
            <a:avLst/>
          </a:prstGeom>
          <a:solidFill>
            <a:srgbClr val="DC2626"/>
          </a:solidFill>
          <a:ln/>
        </p:spPr>
      </p:sp>
      <p:sp>
        <p:nvSpPr>
          <p:cNvPr id="11" name="Text 8"/>
          <p:cNvSpPr/>
          <p:nvPr/>
        </p:nvSpPr>
        <p:spPr>
          <a:xfrm>
            <a:off x="4846320" y="1097280"/>
            <a:ext cx="320040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中央物流管理者モード</a:t>
            </a:r>
            <a:endParaRPr lang="en-US" sz="1100" dirty="0"/>
          </a:p>
        </p:txBody>
      </p:sp>
      <p:pic>
        <p:nvPicPr>
          <p:cNvPr id="12" name="Image 1" descr="/home/claude/ss_logistics.png">    </p:cNvPr>
          <p:cNvPicPr>
            <a:picLocks noChangeAspect="1"/>
          </p:cNvPicPr>
          <p:nvPr/>
        </p:nvPicPr>
        <p:blipFill>
          <a:blip r:embed="rId2"/>
          <a:stretch>
            <a:fillRect/>
          </a:stretch>
        </p:blipFill>
        <p:spPr>
          <a:xfrm>
            <a:off x="4709160" y="1463040"/>
            <a:ext cx="3794760" cy="1766461"/>
          </a:xfrm>
          <a:prstGeom prst="rect">
            <a:avLst/>
          </a:prstGeom>
        </p:spPr>
      </p:pic>
      <p:sp>
        <p:nvSpPr>
          <p:cNvPr id="13" name="Shape 9"/>
          <p:cNvSpPr/>
          <p:nvPr/>
        </p:nvSpPr>
        <p:spPr>
          <a:xfrm>
            <a:off x="594360" y="3359071"/>
            <a:ext cx="3886200" cy="1508760"/>
          </a:xfrm>
          <a:prstGeom prst="rect">
            <a:avLst/>
          </a:prstGeom>
          <a:solidFill>
            <a:srgbClr val="F1F5F9"/>
          </a:solidFill>
          <a:ln/>
          <a:effectLst>
            <a:outerShdw sx="100000" sy="100000" kx="0" ky="0" algn="bl" rotWithShape="0" blurRad="76200" dist="25400" dir="8100000">
              <a:srgbClr val="000000">
                <a:alpha val="12000"/>
              </a:srgbClr>
            </a:outerShdw>
          </a:effectLst>
        </p:spPr>
      </p:sp>
      <p:sp>
        <p:nvSpPr>
          <p:cNvPr id="14" name="Shape 10"/>
          <p:cNvSpPr/>
          <p:nvPr/>
        </p:nvSpPr>
        <p:spPr>
          <a:xfrm>
            <a:off x="594360" y="3359071"/>
            <a:ext cx="54864" cy="1508760"/>
          </a:xfrm>
          <a:prstGeom prst="rect">
            <a:avLst/>
          </a:prstGeom>
          <a:solidFill>
            <a:srgbClr val="059669"/>
          </a:solidFill>
          <a:ln/>
        </p:spPr>
      </p:sp>
      <p:sp>
        <p:nvSpPr>
          <p:cNvPr id="15" name="Text 11"/>
          <p:cNvSpPr/>
          <p:nvPr/>
        </p:nvSpPr>
        <p:spPr>
          <a:xfrm>
            <a:off x="822960" y="3432223"/>
            <a:ext cx="320040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この画面でできること</a:t>
            </a:r>
            <a:endParaRPr lang="en-US" sz="1100" dirty="0"/>
          </a:p>
        </p:txBody>
      </p:sp>
      <p:sp>
        <p:nvSpPr>
          <p:cNvPr id="16" name="Text 12"/>
          <p:cNvSpPr/>
          <p:nvPr/>
        </p:nvSpPr>
        <p:spPr>
          <a:xfrm>
            <a:off x="822960" y="3706543"/>
            <a:ext cx="3474720" cy="105156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担当避難所を選択し、避難者数・開設状態を即時更新</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物資在庫を品目ごとに確認（3日分目安と比較）</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在庫不足の物資を一覧表示し、補充要請をワンタップで作成</a:t>
            </a:r>
            <a:endParaRPr lang="en-US" sz="950" dirty="0"/>
          </a:p>
        </p:txBody>
      </p:sp>
      <p:sp>
        <p:nvSpPr>
          <p:cNvPr id="17" name="Shape 13"/>
          <p:cNvSpPr/>
          <p:nvPr/>
        </p:nvSpPr>
        <p:spPr>
          <a:xfrm>
            <a:off x="4663440" y="3359071"/>
            <a:ext cx="3886200" cy="1508760"/>
          </a:xfrm>
          <a:prstGeom prst="rect">
            <a:avLst/>
          </a:prstGeom>
          <a:solidFill>
            <a:srgbClr val="F1F5F9"/>
          </a:solidFill>
          <a:ln/>
          <a:effectLst>
            <a:outerShdw sx="100000" sy="100000" kx="0" ky="0" algn="bl" rotWithShape="0" blurRad="76200" dist="25400" dir="8100000">
              <a:srgbClr val="000000">
                <a:alpha val="12000"/>
              </a:srgbClr>
            </a:outerShdw>
          </a:effectLst>
        </p:spPr>
      </p:sp>
      <p:sp>
        <p:nvSpPr>
          <p:cNvPr id="18" name="Shape 14"/>
          <p:cNvSpPr/>
          <p:nvPr/>
        </p:nvSpPr>
        <p:spPr>
          <a:xfrm>
            <a:off x="4663440" y="3359071"/>
            <a:ext cx="54864" cy="1508760"/>
          </a:xfrm>
          <a:prstGeom prst="rect">
            <a:avLst/>
          </a:prstGeom>
          <a:solidFill>
            <a:srgbClr val="DC2626"/>
          </a:solidFill>
          <a:ln/>
        </p:spPr>
      </p:sp>
      <p:sp>
        <p:nvSpPr>
          <p:cNvPr id="19" name="Text 15"/>
          <p:cNvSpPr/>
          <p:nvPr/>
        </p:nvSpPr>
        <p:spPr>
          <a:xfrm>
            <a:off x="4892040" y="3432223"/>
            <a:ext cx="320040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この画面でできること</a:t>
            </a:r>
            <a:endParaRPr lang="en-US" sz="1100" dirty="0"/>
          </a:p>
        </p:txBody>
      </p:sp>
      <p:sp>
        <p:nvSpPr>
          <p:cNvPr id="20" name="Text 16"/>
          <p:cNvSpPr/>
          <p:nvPr/>
        </p:nvSpPr>
        <p:spPr>
          <a:xfrm>
            <a:off x="4892040" y="3706543"/>
            <a:ext cx="3474720" cy="105156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承認済み補充要請を緊急度順に一覧、出荷指示を実行</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中央倉庫の品目別在庫をリアルタイムに確認・更新</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広域地図で各避難所の逼迫度を色分け表示（赤＝高）</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sp>
        <p:nvSpPr>
          <p:cNvPr id="3" name="Text 1"/>
          <p:cNvSpPr/>
          <p:nvPr/>
        </p:nvSpPr>
        <p:spPr>
          <a:xfrm>
            <a:off x="640080" y="228600"/>
            <a:ext cx="3657600" cy="27432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DEVELOPMENT</a:t>
            </a:r>
            <a:endParaRPr lang="en-US" sz="1100" dirty="0"/>
          </a:p>
        </p:txBody>
      </p:sp>
      <p:sp>
        <p:nvSpPr>
          <p:cNvPr id="4" name="Text 2"/>
          <p:cNvSpPr/>
          <p:nvPr/>
        </p:nvSpPr>
        <p:spPr>
          <a:xfrm>
            <a:off x="640080" y="457200"/>
            <a:ext cx="7772400" cy="54864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開発で直面した壁と、乗り越え方</a:t>
            </a:r>
            <a:endParaRPr lang="en-US" sz="2800" dirty="0"/>
          </a:p>
        </p:txBody>
      </p:sp>
      <p:sp>
        <p:nvSpPr>
          <p:cNvPr id="5" name="Shape 3"/>
          <p:cNvSpPr/>
          <p:nvPr/>
        </p:nvSpPr>
        <p:spPr>
          <a:xfrm>
            <a:off x="640080" y="1143000"/>
            <a:ext cx="2468880" cy="3566160"/>
          </a:xfrm>
          <a:prstGeom prst="rect">
            <a:avLst/>
          </a:prstGeom>
          <a:solidFill>
            <a:srgbClr val="FEF3C7"/>
          </a:solidFill>
          <a:ln/>
          <a:effectLst>
            <a:outerShdw sx="100000" sy="100000" kx="0" ky="0" algn="bl" rotWithShape="0" blurRad="76200" dist="25400" dir="8100000">
              <a:srgbClr val="000000">
                <a:alpha val="12000"/>
              </a:srgbClr>
            </a:outerShdw>
          </a:effectLst>
        </p:spPr>
      </p:sp>
      <p:sp>
        <p:nvSpPr>
          <p:cNvPr id="6" name="Shape 4"/>
          <p:cNvSpPr/>
          <p:nvPr/>
        </p:nvSpPr>
        <p:spPr>
          <a:xfrm>
            <a:off x="640080" y="1143000"/>
            <a:ext cx="2468880" cy="457200"/>
          </a:xfrm>
          <a:prstGeom prst="rect">
            <a:avLst/>
          </a:prstGeom>
          <a:solidFill>
            <a:srgbClr val="DC2626"/>
          </a:solidFill>
          <a:ln/>
        </p:spPr>
      </p:sp>
      <p:sp>
        <p:nvSpPr>
          <p:cNvPr id="7" name="Text 5"/>
          <p:cNvSpPr/>
          <p:nvPr/>
        </p:nvSpPr>
        <p:spPr>
          <a:xfrm>
            <a:off x="822960" y="1188720"/>
            <a:ext cx="18288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① 壁</a:t>
            </a:r>
            <a:endParaRPr lang="en-US" sz="1400" dirty="0"/>
          </a:p>
        </p:txBody>
      </p:sp>
      <p:sp>
        <p:nvSpPr>
          <p:cNvPr id="8" name="Text 6"/>
          <p:cNvSpPr/>
          <p:nvPr/>
        </p:nvSpPr>
        <p:spPr>
          <a:xfrm>
            <a:off x="822960" y="1664208"/>
            <a:ext cx="2103120" cy="2834640"/>
          </a:xfrm>
          <a:prstGeom prst="rect">
            <a:avLst/>
          </a:prstGeom>
          <a:noFill/>
          <a:ln/>
        </p:spPr>
        <p:txBody>
          <a:bodyPr wrap="square" lIns="0" tIns="0" rIns="0" bIns="0" rtlCol="0" anchor="ctr"/>
          <a:lstStyle/>
          <a:p>
            <a:pPr indent="0" marL="0">
              <a:lnSpc>
                <a:spcPct val="135000"/>
              </a:lnSpc>
              <a:buNone/>
            </a:pPr>
            <a:r>
              <a:rPr lang="en-US" sz="1050" dirty="0">
                <a:solidFill>
                  <a:srgbClr val="1E293B"/>
                </a:solidFill>
                <a:latin typeface="Calibri" pitchFamily="34" charset="0"/>
                <a:ea typeface="Calibri" pitchFamily="34" charset="-122"/>
                <a:cs typeface="Calibri" pitchFamily="34" charset="-120"/>
              </a:rPr>
              <a:t>インターンではメンターの指示通りに進めればサクサク動いた。</a:t>
            </a:r>
            <a:endParaRPr lang="en-US" sz="1050" dirty="0"/>
          </a:p>
          <a:p>
            <a:pPr indent="0" marL="0">
              <a:lnSpc>
                <a:spcPct val="135000"/>
              </a:lnSpc>
              <a:buNone/>
            </a:pPr>
            <a:endParaRPr lang="en-US" sz="1050" dirty="0"/>
          </a:p>
          <a:p>
            <a:pPr indent="0" marL="0">
              <a:lnSpc>
                <a:spcPct val="135000"/>
              </a:lnSpc>
              <a:buNone/>
            </a:pPr>
            <a:r>
              <a:rPr lang="en-US" sz="1050" dirty="0">
                <a:solidFill>
                  <a:srgbClr val="1E293B"/>
                </a:solidFill>
                <a:latin typeface="Calibri" pitchFamily="34" charset="0"/>
                <a:ea typeface="Calibri" pitchFamily="34" charset="-122"/>
                <a:cs typeface="Calibri" pitchFamily="34" charset="-120"/>
              </a:rPr>
              <a:t>しかし自力で取り組むと、AWS構成の参考情報を見つけるだけで時間がかかった。</a:t>
            </a:r>
            <a:endParaRPr lang="en-US" sz="1050" dirty="0"/>
          </a:p>
          <a:p>
            <a:pPr indent="0" marL="0">
              <a:lnSpc>
                <a:spcPct val="135000"/>
              </a:lnSpc>
              <a:buNone/>
            </a:pPr>
            <a:endParaRPr lang="en-US" sz="1050" dirty="0"/>
          </a:p>
          <a:p>
            <a:pPr indent="0" marL="0">
              <a:lnSpc>
                <a:spcPct val="135000"/>
              </a:lnSpc>
              <a:buNone/>
            </a:pPr>
            <a:r>
              <a:rPr lang="en-US" sz="1050" dirty="0">
                <a:solidFill>
                  <a:srgbClr val="1E293B"/>
                </a:solidFill>
                <a:latin typeface="Calibri" pitchFamily="34" charset="0"/>
                <a:ea typeface="Calibri" pitchFamily="34" charset="-122"/>
                <a:cs typeface="Calibri" pitchFamily="34" charset="-120"/>
              </a:rPr>
              <a:t>IAMのルートユーザーとIAMユーザーの違いも理解できておらず、手探り状態だった。</a:t>
            </a:r>
            <a:endParaRPr lang="en-US" sz="1050" dirty="0"/>
          </a:p>
        </p:txBody>
      </p:sp>
      <p:sp>
        <p:nvSpPr>
          <p:cNvPr id="9" name="Shape 7"/>
          <p:cNvSpPr/>
          <p:nvPr/>
        </p:nvSpPr>
        <p:spPr>
          <a:xfrm>
            <a:off x="3337560" y="1143000"/>
            <a:ext cx="2468880" cy="3566160"/>
          </a:xfrm>
          <a:prstGeom prst="rect">
            <a:avLst/>
          </a:prstGeom>
          <a:solidFill>
            <a:srgbClr val="DBEAFE"/>
          </a:solidFill>
          <a:ln/>
          <a:effectLst>
            <a:outerShdw sx="100000" sy="100000" kx="0" ky="0" algn="bl" rotWithShape="0" blurRad="76200" dist="25400" dir="8100000">
              <a:srgbClr val="000000">
                <a:alpha val="12000"/>
              </a:srgbClr>
            </a:outerShdw>
          </a:effectLst>
        </p:spPr>
      </p:sp>
      <p:sp>
        <p:nvSpPr>
          <p:cNvPr id="10" name="Shape 8"/>
          <p:cNvSpPr/>
          <p:nvPr/>
        </p:nvSpPr>
        <p:spPr>
          <a:xfrm>
            <a:off x="3337560" y="1143000"/>
            <a:ext cx="2468880" cy="457200"/>
          </a:xfrm>
          <a:prstGeom prst="rect">
            <a:avLst/>
          </a:prstGeom>
          <a:solidFill>
            <a:srgbClr val="2D6A8F"/>
          </a:solidFill>
          <a:ln/>
        </p:spPr>
      </p:sp>
      <p:sp>
        <p:nvSpPr>
          <p:cNvPr id="11" name="Text 9"/>
          <p:cNvSpPr/>
          <p:nvPr/>
        </p:nvSpPr>
        <p:spPr>
          <a:xfrm>
            <a:off x="3520440" y="1188720"/>
            <a:ext cx="18288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② 行動</a:t>
            </a:r>
            <a:endParaRPr lang="en-US" sz="1400" dirty="0"/>
          </a:p>
        </p:txBody>
      </p:sp>
      <p:sp>
        <p:nvSpPr>
          <p:cNvPr id="12" name="Text 10"/>
          <p:cNvSpPr/>
          <p:nvPr/>
        </p:nvSpPr>
        <p:spPr>
          <a:xfrm>
            <a:off x="3520440" y="1664208"/>
            <a:ext cx="2103120" cy="2834640"/>
          </a:xfrm>
          <a:prstGeom prst="rect">
            <a:avLst/>
          </a:prstGeom>
          <a:noFill/>
          <a:ln/>
        </p:spPr>
        <p:txBody>
          <a:bodyPr wrap="square" lIns="0" tIns="0" rIns="0" bIns="0" rtlCol="0" anchor="ctr"/>
          <a:lstStyle/>
          <a:p>
            <a:pPr indent="0" marL="0">
              <a:lnSpc>
                <a:spcPct val="135000"/>
              </a:lnSpc>
              <a:buNone/>
            </a:pPr>
            <a:r>
              <a:rPr lang="en-US" sz="1050" dirty="0">
                <a:solidFill>
                  <a:srgbClr val="1E293B"/>
                </a:solidFill>
                <a:latin typeface="Calibri" pitchFamily="34" charset="0"/>
                <a:ea typeface="Calibri" pitchFamily="34" charset="-122"/>
                <a:cs typeface="Calibri" pitchFamily="34" charset="-120"/>
              </a:rPr>
              <a:t>AWS公式チュートリアルとサーバーレス設計パターン集を読み込み、構成の型を学んだ。</a:t>
            </a:r>
            <a:endParaRPr lang="en-US" sz="1050" dirty="0"/>
          </a:p>
          <a:p>
            <a:pPr indent="0" marL="0">
              <a:lnSpc>
                <a:spcPct val="135000"/>
              </a:lnSpc>
              <a:buNone/>
            </a:pPr>
            <a:endParaRPr lang="en-US" sz="1050" dirty="0"/>
          </a:p>
          <a:p>
            <a:pPr indent="0" marL="0">
              <a:lnSpc>
                <a:spcPct val="135000"/>
              </a:lnSpc>
              <a:buNone/>
            </a:pPr>
            <a:r>
              <a:rPr lang="en-US" sz="1050" dirty="0">
                <a:solidFill>
                  <a:srgbClr val="1E293B"/>
                </a:solidFill>
                <a:latin typeface="Calibri" pitchFamily="34" charset="0"/>
                <a:ea typeface="Calibri" pitchFamily="34" charset="-122"/>
                <a:cs typeface="Calibri" pitchFamily="34" charset="-120"/>
              </a:rPr>
              <a:t>機能設計では、能登半島地震の内閣府分析資料から現場の課題を抽出し、必要な機能を逆算。</a:t>
            </a:r>
            <a:endParaRPr lang="en-US" sz="1050" dirty="0"/>
          </a:p>
          <a:p>
            <a:pPr indent="0" marL="0">
              <a:lnSpc>
                <a:spcPct val="135000"/>
              </a:lnSpc>
              <a:buNone/>
            </a:pPr>
            <a:endParaRPr lang="en-US" sz="1050" dirty="0"/>
          </a:p>
          <a:p>
            <a:pPr indent="0" marL="0">
              <a:lnSpc>
                <a:spcPct val="135000"/>
              </a:lnSpc>
              <a:buNone/>
            </a:pPr>
            <a:r>
              <a:rPr lang="en-US" sz="1050" dirty="0">
                <a:solidFill>
                  <a:srgbClr val="1E293B"/>
                </a:solidFill>
                <a:latin typeface="Calibri" pitchFamily="34" charset="0"/>
                <a:ea typeface="Calibri" pitchFamily="34" charset="-122"/>
                <a:cs typeface="Calibri" pitchFamily="34" charset="-120"/>
              </a:rPr>
              <a:t>Kiroを活用して開発速度を上げつつ、UI微調整はHTML/CSS知識で自ら対応した。</a:t>
            </a:r>
            <a:endParaRPr lang="en-US" sz="1050" dirty="0"/>
          </a:p>
        </p:txBody>
      </p:sp>
      <p:sp>
        <p:nvSpPr>
          <p:cNvPr id="13" name="Shape 11"/>
          <p:cNvSpPr/>
          <p:nvPr/>
        </p:nvSpPr>
        <p:spPr>
          <a:xfrm>
            <a:off x="6035040" y="1143000"/>
            <a:ext cx="2468880" cy="3566160"/>
          </a:xfrm>
          <a:prstGeom prst="rect">
            <a:avLst/>
          </a:prstGeom>
          <a:solidFill>
            <a:srgbClr val="D1FAE5"/>
          </a:solidFill>
          <a:ln/>
          <a:effectLst>
            <a:outerShdw sx="100000" sy="100000" kx="0" ky="0" algn="bl" rotWithShape="0" blurRad="76200" dist="25400" dir="8100000">
              <a:srgbClr val="000000">
                <a:alpha val="12000"/>
              </a:srgbClr>
            </a:outerShdw>
          </a:effectLst>
        </p:spPr>
      </p:sp>
      <p:sp>
        <p:nvSpPr>
          <p:cNvPr id="14" name="Shape 12"/>
          <p:cNvSpPr/>
          <p:nvPr/>
        </p:nvSpPr>
        <p:spPr>
          <a:xfrm>
            <a:off x="6035040" y="1143000"/>
            <a:ext cx="2468880" cy="457200"/>
          </a:xfrm>
          <a:prstGeom prst="rect">
            <a:avLst/>
          </a:prstGeom>
          <a:solidFill>
            <a:srgbClr val="0D9488"/>
          </a:solidFill>
          <a:ln/>
        </p:spPr>
      </p:sp>
      <p:sp>
        <p:nvSpPr>
          <p:cNvPr id="15" name="Text 13"/>
          <p:cNvSpPr/>
          <p:nvPr/>
        </p:nvSpPr>
        <p:spPr>
          <a:xfrm>
            <a:off x="6217920" y="1188720"/>
            <a:ext cx="18288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③ 学び</a:t>
            </a:r>
            <a:endParaRPr lang="en-US" sz="1400" dirty="0"/>
          </a:p>
        </p:txBody>
      </p:sp>
      <p:sp>
        <p:nvSpPr>
          <p:cNvPr id="16" name="Text 14"/>
          <p:cNvSpPr/>
          <p:nvPr/>
        </p:nvSpPr>
        <p:spPr>
          <a:xfrm>
            <a:off x="6217920" y="1664208"/>
            <a:ext cx="2103120" cy="2834640"/>
          </a:xfrm>
          <a:prstGeom prst="rect">
            <a:avLst/>
          </a:prstGeom>
          <a:noFill/>
          <a:ln/>
        </p:spPr>
        <p:txBody>
          <a:bodyPr wrap="square" lIns="0" tIns="0" rIns="0" bIns="0" rtlCol="0" anchor="ctr"/>
          <a:lstStyle/>
          <a:p>
            <a:pPr indent="0" marL="0">
              <a:lnSpc>
                <a:spcPct val="135000"/>
              </a:lnSpc>
              <a:buNone/>
            </a:pPr>
            <a:r>
              <a:rPr lang="en-US" sz="1050" dirty="0">
                <a:solidFill>
                  <a:srgbClr val="1E293B"/>
                </a:solidFill>
                <a:latin typeface="Calibri" pitchFamily="34" charset="0"/>
                <a:ea typeface="Calibri" pitchFamily="34" charset="-122"/>
                <a:cs typeface="Calibri" pitchFamily="34" charset="-120"/>
              </a:rPr>
              <a:t>「自分で情報を探し、判断し、形にする」経験を通じて、自走力が身についた。</a:t>
            </a:r>
            <a:endParaRPr lang="en-US" sz="1050" dirty="0"/>
          </a:p>
          <a:p>
            <a:pPr indent="0" marL="0">
              <a:lnSpc>
                <a:spcPct val="135000"/>
              </a:lnSpc>
              <a:buNone/>
            </a:pPr>
            <a:endParaRPr lang="en-US" sz="1050" dirty="0"/>
          </a:p>
          <a:p>
            <a:pPr indent="0" marL="0">
              <a:lnSpc>
                <a:spcPct val="135000"/>
              </a:lnSpc>
              <a:buNone/>
            </a:pPr>
            <a:r>
              <a:rPr lang="en-US" sz="1050" dirty="0">
                <a:solidFill>
                  <a:srgbClr val="1E293B"/>
                </a:solidFill>
                <a:latin typeface="Calibri" pitchFamily="34" charset="0"/>
                <a:ea typeface="Calibri" pitchFamily="34" charset="-122"/>
                <a:cs typeface="Calibri" pitchFamily="34" charset="-120"/>
              </a:rPr>
              <a:t>AIツールは万能ではなく、初期の要件定義と自分の技術知識が品質を左右すると実感。</a:t>
            </a:r>
            <a:endParaRPr lang="en-US" sz="1050" dirty="0"/>
          </a:p>
          <a:p>
            <a:pPr indent="0" marL="0">
              <a:lnSpc>
                <a:spcPct val="135000"/>
              </a:lnSpc>
              <a:buNone/>
            </a:pPr>
            <a:endParaRPr lang="en-US" sz="1050" dirty="0"/>
          </a:p>
          <a:p>
            <a:pPr indent="0" marL="0">
              <a:lnSpc>
                <a:spcPct val="135000"/>
              </a:lnSpc>
              <a:buNone/>
            </a:pPr>
            <a:r>
              <a:rPr lang="en-US" sz="1050" dirty="0">
                <a:solidFill>
                  <a:srgbClr val="1E293B"/>
                </a:solidFill>
                <a:latin typeface="Calibri" pitchFamily="34" charset="0"/>
                <a:ea typeface="Calibri" pitchFamily="34" charset="-122"/>
                <a:cs typeface="Calibri" pitchFamily="34" charset="-120"/>
              </a:rPr>
              <a:t>ユーザー視点の機能設計には、実際の災害記録など一次資料に当たることが不可欠だと学んだ。</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06"/>
          </a:solidFill>
          <a:ln/>
        </p:spPr>
      </p:sp>
      <p:pic>
        <p:nvPicPr>
          <p:cNvPr id="3" name="Image 0" descr="preencoded.png">    </p:cNvPr>
          <p:cNvPicPr>
            <a:picLocks noChangeAspect="1"/>
          </p:cNvPicPr>
          <p:nvPr/>
        </p:nvPicPr>
        <p:blipFill>
          <a:blip r:embed="rId1"/>
          <a:stretch>
            <a:fillRect/>
          </a:stretch>
        </p:blipFill>
        <p:spPr>
          <a:xfrm>
            <a:off x="4023360" y="365760"/>
            <a:ext cx="822960" cy="822960"/>
          </a:xfrm>
          <a:prstGeom prst="rect">
            <a:avLst/>
          </a:prstGeom>
        </p:spPr>
      </p:pic>
      <p:sp>
        <p:nvSpPr>
          <p:cNvPr id="4" name="Text 1"/>
          <p:cNvSpPr/>
          <p:nvPr/>
        </p:nvSpPr>
        <p:spPr>
          <a:xfrm>
            <a:off x="457200" y="1280160"/>
            <a:ext cx="822960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学んだこと・今後の展望</a:t>
            </a:r>
            <a:endParaRPr lang="en-US" sz="2600" dirty="0"/>
          </a:p>
        </p:txBody>
      </p:sp>
      <p:sp>
        <p:nvSpPr>
          <p:cNvPr id="5" name="Shape 2"/>
          <p:cNvSpPr/>
          <p:nvPr/>
        </p:nvSpPr>
        <p:spPr>
          <a:xfrm>
            <a:off x="640080" y="1965960"/>
            <a:ext cx="3794760" cy="2743200"/>
          </a:xfrm>
          <a:prstGeom prst="rect">
            <a:avLst/>
          </a:prstGeom>
          <a:solidFill>
            <a:srgbClr val="FFFFFF">
              <a:alpha val="10000"/>
            </a:srgbClr>
          </a:solidFill>
          <a:ln w="6350">
            <a:solidFill>
              <a:srgbClr val="FFFFFF"/>
            </a:solidFill>
            <a:prstDash val="solid"/>
          </a:ln>
        </p:spPr>
      </p:sp>
      <p:sp>
        <p:nvSpPr>
          <p:cNvPr id="6" name="Text 3"/>
          <p:cNvSpPr/>
          <p:nvPr/>
        </p:nvSpPr>
        <p:spPr>
          <a:xfrm>
            <a:off x="960120" y="2103120"/>
            <a:ext cx="3200400" cy="36576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学んだこと</a:t>
            </a:r>
            <a:endParaRPr lang="en-US" sz="1500" dirty="0"/>
          </a:p>
        </p:txBody>
      </p:sp>
      <p:sp>
        <p:nvSpPr>
          <p:cNvPr id="7" name="Text 4"/>
          <p:cNvSpPr/>
          <p:nvPr/>
        </p:nvSpPr>
        <p:spPr>
          <a:xfrm>
            <a:off x="960120" y="2514600"/>
            <a:ext cx="3200400" cy="201168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サーバーレスの設計原則と実装経験</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利用シーンから逆算したアーキテクチャ選定</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DynamoDBのテーブル設計（PK/SK設計）</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Bedrockを活用したAIチャット機能の実装</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AIツール（Kiro）を活かした開発の進め方</a:t>
            </a:r>
            <a:endParaRPr lang="en-US" sz="1150" dirty="0"/>
          </a:p>
        </p:txBody>
      </p:sp>
      <p:sp>
        <p:nvSpPr>
          <p:cNvPr id="8" name="Shape 5"/>
          <p:cNvSpPr/>
          <p:nvPr/>
        </p:nvSpPr>
        <p:spPr>
          <a:xfrm>
            <a:off x="4800600" y="1965960"/>
            <a:ext cx="3794760" cy="2743200"/>
          </a:xfrm>
          <a:prstGeom prst="rect">
            <a:avLst/>
          </a:prstGeom>
          <a:solidFill>
            <a:srgbClr val="FFFFFF">
              <a:alpha val="10000"/>
            </a:srgbClr>
          </a:solidFill>
          <a:ln w="6350">
            <a:solidFill>
              <a:srgbClr val="FFFFFF"/>
            </a:solidFill>
            <a:prstDash val="solid"/>
          </a:ln>
        </p:spPr>
      </p:sp>
      <p:sp>
        <p:nvSpPr>
          <p:cNvPr id="9" name="Text 6"/>
          <p:cNvSpPr/>
          <p:nvPr/>
        </p:nvSpPr>
        <p:spPr>
          <a:xfrm>
            <a:off x="5120640" y="2103120"/>
            <a:ext cx="3200400" cy="36576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今後の展望</a:t>
            </a:r>
            <a:endParaRPr lang="en-US" sz="1500" dirty="0"/>
          </a:p>
        </p:txBody>
      </p:sp>
      <p:sp>
        <p:nvSpPr>
          <p:cNvPr id="10" name="Text 7"/>
          <p:cNvSpPr/>
          <p:nvPr/>
        </p:nvSpPr>
        <p:spPr>
          <a:xfrm>
            <a:off x="5120640" y="2514600"/>
            <a:ext cx="3200400" cy="201168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IaCの導入 ─ インフラ構成をコードで管理し</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セキュリティ・可用性・保守性を向上</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外部災害情報との連携 ─ 津波・浸水情報の反映</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オフライン対応 ─ 通信不安定時でも閲覧可能に</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自動通知 ─ 物資不足・満員時のアラート</a:t>
            </a:r>
            <a:endParaRPr lang="en-US" sz="1150" dirty="0"/>
          </a:p>
        </p:txBody>
      </p:sp>
      <p:sp>
        <p:nvSpPr>
          <p:cNvPr id="11" name="Text 8"/>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200" dirty="0">
                <a:solidFill>
                  <a:srgbClr val="B0BEC5"/>
                </a:solidFill>
                <a:latin typeface="Calibri" pitchFamily="34" charset="0"/>
                <a:ea typeface="Calibri" pitchFamily="34" charset="-122"/>
                <a:cs typeface="Calibri" pitchFamily="34" charset="-120"/>
              </a:rPr>
              <a:t>ご清覧ありがとうございました</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ShelterLink 避難所運営支援システム ポートフォリオ</dc:title>
  <dc:subject>PptxGenJS Presentation</dc:subject>
  <dc:creator>PptxGenJS</dc:creator>
  <cp:lastModifiedBy>PptxGenJS</cp:lastModifiedBy>
  <cp:revision>1</cp:revision>
  <dcterms:created xsi:type="dcterms:W3CDTF">2026-03-27T07:49:24Z</dcterms:created>
  <dcterms:modified xsi:type="dcterms:W3CDTF">2026-03-27T07:49:24Z</dcterms:modified>
</cp:coreProperties>
</file>